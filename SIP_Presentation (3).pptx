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B5CFF"/>
    <a:srgbClr val="616161"/>
    <a:srgbClr val="FC155D"/>
    <a:srgbClr val="3B6FE8"/>
    <a:srgbClr val="0B1222"/>
    <a:srgbClr val="121A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-1326" y="-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792910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7.png"/><Relationship Id="rId4" Type="http://schemas.openxmlformats.org/officeDocument/2006/relationships/image" Target="../media/image4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828800" y="-731520"/>
            <a:ext cx="8229600" cy="8229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02920" y="105156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A2436"/>
          </a:solidFill>
          <a:ln/>
        </p:spPr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1133856"/>
            <a:ext cx="182880" cy="18288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868680" y="107899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FF4D7A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جشنواره خوارزمی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8" name="Text 3"/>
          <p:cNvSpPr/>
          <p:nvPr/>
        </p:nvSpPr>
        <p:spPr>
          <a:xfrm>
            <a:off x="2331720" y="1078992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سامانه هوشمند</a:t>
            </a:r>
            <a:endParaRPr lang="en-US" sz="3600" dirty="0">
              <a:latin typeface="Vazirmatn" pitchFamily="2" charset="-78"/>
              <a:cs typeface="Vazirmatn" pitchFamily="2" charset="-78"/>
            </a:endParaRPr>
          </a:p>
          <a:p>
            <a:pPr marL="0" indent="0" algn="r">
              <a:buNone/>
            </a:pPr>
            <a:r>
              <a:rPr lang="en-US" sz="36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مدیریت مدارس</a:t>
            </a:r>
            <a:endParaRPr lang="en-US" sz="36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9" name="Text 4"/>
          <p:cNvSpPr/>
          <p:nvPr/>
        </p:nvSpPr>
        <p:spPr>
          <a:xfrm>
            <a:off x="2331720" y="254203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School Intelligence Platform  ·  SIP</a:t>
            </a:r>
            <a:endParaRPr lang="en-US" sz="1600" dirty="0">
              <a:latin typeface="Vazirmatn" pitchFamily="2" charset="-78"/>
              <a:cs typeface="Vazirmatn" pitchFamily="2" charset="-78"/>
            </a:endParaRPr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999232"/>
            <a:ext cx="2194560" cy="5486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2331720" y="3273552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تصمیم‌یار آموزشی مبتنی بر الگوریتم — نه فقط حضور و نمره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-1828800" y="2286000"/>
            <a:ext cx="3657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معرفی پروژه</a:t>
            </a:r>
            <a:endParaRPr lang="en-US" sz="2400" dirty="0">
              <a:latin typeface="Vazirmatn" pitchFamily="2" charset="-78"/>
              <a:cs typeface="Vazirmatn" pitchFamily="2" charset="-78"/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685800"/>
            <a:ext cx="1645920" cy="457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89204" y="960120"/>
            <a:ext cx="8243316" cy="1554480"/>
          </a:xfrm>
          <a:prstGeom prst="roundRect">
            <a:avLst>
              <a:gd name="adj" fmla="val 8235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1188720"/>
            <a:ext cx="384048" cy="38404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1143000"/>
            <a:ext cx="7223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SIP یک سامانه مدیریت مدارس نسل جدید است — نه فقط حضور و نمره.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  <a:p>
            <a:pPr marL="0" indent="0" algn="r">
              <a:buNone/>
            </a:pPr>
            <a:r>
              <a:rPr lang="en-US" sz="14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با داده‌های آموزشی و الگوریتم‌های هوشمند، مشکلات تحصیلی را زود تشخیص می‌دهد، تحلیل مدیریتی ارائه می‌کند و به همه نقش‌ها راهکار پیشنهاد می‌دهد.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0" name="Shape 5"/>
          <p:cNvSpPr/>
          <p:nvPr/>
        </p:nvSpPr>
        <p:spPr>
          <a:xfrm>
            <a:off x="411480" y="2788920"/>
            <a:ext cx="2697480" cy="1965960"/>
          </a:xfrm>
          <a:prstGeom prst="roundRect">
            <a:avLst>
              <a:gd name="adj" fmla="val 651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1417320" y="301752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A2436"/>
          </a:solidFill>
          <a:ln/>
        </p:spPr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7048" y="3127248"/>
            <a:ext cx="420624" cy="42062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38404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تشخیص زودهنگام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4" name="Text 8"/>
          <p:cNvSpPr/>
          <p:nvPr/>
        </p:nvSpPr>
        <p:spPr>
          <a:xfrm>
            <a:off x="548640" y="41605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افت تحصیلی قبل از کارنامه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5" name="Shape 9"/>
          <p:cNvSpPr/>
          <p:nvPr/>
        </p:nvSpPr>
        <p:spPr>
          <a:xfrm>
            <a:off x="3246120" y="2788920"/>
            <a:ext cx="2697480" cy="1965960"/>
          </a:xfrm>
          <a:prstGeom prst="roundRect">
            <a:avLst>
              <a:gd name="adj" fmla="val 651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251960" y="301752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A2436"/>
          </a:solidFill>
          <a:ln/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1688" y="3127248"/>
            <a:ext cx="420624" cy="42062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83280" y="38404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تحلیل هوشمند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9" name="Text 12"/>
          <p:cNvSpPr/>
          <p:nvPr/>
        </p:nvSpPr>
        <p:spPr>
          <a:xfrm>
            <a:off x="3383280" y="41605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پیش‌بینی و تصمیم‌یاری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6080760" y="2788920"/>
            <a:ext cx="2697480" cy="1965960"/>
          </a:xfrm>
          <a:prstGeom prst="roundRect">
            <a:avLst>
              <a:gd name="adj" fmla="val 651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7086600" y="3017520"/>
            <a:ext cx="640080" cy="640080"/>
          </a:xfrm>
          <a:prstGeom prst="roundRect">
            <a:avLst>
              <a:gd name="adj" fmla="val 22857"/>
            </a:avLst>
          </a:prstGeom>
          <a:solidFill>
            <a:srgbClr val="1A2436"/>
          </a:solidFill>
          <a:ln/>
        </p:spPr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96328" y="3127248"/>
            <a:ext cx="420624" cy="420624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6217920" y="384048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پنج نقش کاربری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6217920" y="416052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مدیر تا دانش‌آموز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39AFD16-62DB-BA3F-DC0A-221844763F30}"/>
              </a:ext>
            </a:extLst>
          </p:cNvPr>
          <p:cNvSpPr/>
          <p:nvPr/>
        </p:nvSpPr>
        <p:spPr>
          <a:xfrm flipH="1">
            <a:off x="8645652" y="997267"/>
            <a:ext cx="59436" cy="1463040"/>
          </a:xfrm>
          <a:prstGeom prst="roundRect">
            <a:avLst>
              <a:gd name="adj" fmla="val 50000"/>
            </a:avLst>
          </a:prstGeom>
          <a:solidFill>
            <a:srgbClr val="FC155D"/>
          </a:solidFill>
          <a:ln>
            <a:solidFill>
              <a:srgbClr val="FC15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Vazirmatn" pitchFamily="2" charset="-78"/>
              <a:cs typeface="Vazirmatn" pitchFamily="2" charset="-78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Image 0" descr="preencoded.png">
            <a:extLst>
              <a:ext uri="{FF2B5EF4-FFF2-40B4-BE49-F238E27FC236}">
                <a16:creationId xmlns:a16="http://schemas.microsoft.com/office/drawing/2014/main" id="{E70A71FA-0CF5-2A81-1403-41752642EB2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5897880" y="-411480"/>
            <a:ext cx="3657600" cy="3657600"/>
          </a:xfrm>
          <a:prstGeom prst="rect">
            <a:avLst/>
          </a:prstGeom>
        </p:spPr>
      </p:pic>
      <p:pic>
        <p:nvPicPr>
          <p:cNvPr id="79" name="Image 0" descr="preencoded.png">
            <a:extLst>
              <a:ext uri="{FF2B5EF4-FFF2-40B4-BE49-F238E27FC236}">
                <a16:creationId xmlns:a16="http://schemas.microsoft.com/office/drawing/2014/main" id="{E273F163-9283-528F-A839-658216E4C42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-1828800" y="2286000"/>
            <a:ext cx="3657600" cy="36576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457200" y="228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اهداف پروژه</a:t>
            </a:r>
            <a:endParaRPr lang="en-US" sz="2400" dirty="0">
              <a:latin typeface="Vazirmatn" pitchFamily="2" charset="-78"/>
              <a:cs typeface="Vazirmatn" pitchFamily="2" charset="-78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640080"/>
            <a:ext cx="1645920" cy="45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709160" y="914400"/>
            <a:ext cx="4160520" cy="822960"/>
          </a:xfrm>
          <a:prstGeom prst="roundRect">
            <a:avLst>
              <a:gd name="adj" fmla="val 13333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0" y="1097280"/>
            <a:ext cx="502920" cy="45720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0" y="11430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1300" b="1" dirty="0">
                <a:solidFill>
                  <a:srgbClr val="FC155D"/>
                </a:solidFill>
                <a:latin typeface="Vazirmatn" pitchFamily="2" charset="-78"/>
                <a:cs typeface="Vazirmatn" pitchFamily="2" charset="-78"/>
              </a:rPr>
              <a:t>۱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8" name="Text 5"/>
          <p:cNvSpPr/>
          <p:nvPr/>
        </p:nvSpPr>
        <p:spPr>
          <a:xfrm>
            <a:off x="4983480" y="1143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تشخیص زودهنگام افت تحصیلی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11480" y="914400"/>
            <a:ext cx="4160520" cy="822960"/>
          </a:xfrm>
          <a:prstGeom prst="roundRect">
            <a:avLst>
              <a:gd name="adj" fmla="val 13333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931920" y="1097280"/>
            <a:ext cx="502920" cy="45720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11" name="Text 8"/>
          <p:cNvSpPr/>
          <p:nvPr/>
        </p:nvSpPr>
        <p:spPr>
          <a:xfrm>
            <a:off x="3931920" y="11430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13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۲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85800" y="1143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تحلیل عملکرد دانش‌آموزان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709160" y="1874520"/>
            <a:ext cx="4160520" cy="822960"/>
          </a:xfrm>
          <a:prstGeom prst="roundRect">
            <a:avLst>
              <a:gd name="adj" fmla="val 13333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229600" y="2057400"/>
            <a:ext cx="502920" cy="45720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0" y="21031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1300" b="1" dirty="0">
                <a:solidFill>
                  <a:srgbClr val="FC155D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۳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498348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افزایش ارتباط مدرسه و والدین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11480" y="1874520"/>
            <a:ext cx="4160520" cy="822960"/>
          </a:xfrm>
          <a:prstGeom prst="roundRect">
            <a:avLst>
              <a:gd name="adj" fmla="val 13333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931920" y="2057400"/>
            <a:ext cx="502920" cy="45720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19" name="Text 16"/>
          <p:cNvSpPr/>
          <p:nvPr/>
        </p:nvSpPr>
        <p:spPr>
          <a:xfrm>
            <a:off x="3931920" y="21031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13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۴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685800" y="2103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کاهش فشار کاری مشاوران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4709160" y="2834640"/>
            <a:ext cx="4160520" cy="822960"/>
          </a:xfrm>
          <a:prstGeom prst="roundRect">
            <a:avLst>
              <a:gd name="adj" fmla="val 13333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29600" y="3017520"/>
            <a:ext cx="502920" cy="45720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0" y="3063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1300" b="1" dirty="0">
                <a:solidFill>
                  <a:srgbClr val="FC155D"/>
                </a:solidFill>
                <a:latin typeface="Vazirmatn" pitchFamily="2" charset="-78"/>
                <a:cs typeface="Vazirmatn" pitchFamily="2" charset="-78"/>
              </a:rPr>
              <a:t>۵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4983480" y="3063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آمار مدیریتی دقیق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5" name="Shape 22"/>
          <p:cNvSpPr/>
          <p:nvPr/>
        </p:nvSpPr>
        <p:spPr>
          <a:xfrm>
            <a:off x="411480" y="2834640"/>
            <a:ext cx="4160520" cy="822960"/>
          </a:xfrm>
          <a:prstGeom prst="roundRect">
            <a:avLst>
              <a:gd name="adj" fmla="val 13333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931920" y="3017520"/>
            <a:ext cx="502920" cy="45720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27" name="Text 24"/>
          <p:cNvSpPr/>
          <p:nvPr/>
        </p:nvSpPr>
        <p:spPr>
          <a:xfrm>
            <a:off x="3931920" y="30632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13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۶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685800" y="3063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شناسایی دانش‌آموزان پرخطر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4709160" y="3794760"/>
            <a:ext cx="4160520" cy="822960"/>
          </a:xfrm>
          <a:prstGeom prst="roundRect">
            <a:avLst>
              <a:gd name="adj" fmla="val 13333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29600" y="3977640"/>
            <a:ext cx="502920" cy="45720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0" y="40233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1300" b="1" dirty="0">
                <a:solidFill>
                  <a:srgbClr val="FC155D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۷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4983480" y="4023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برنامه مطالعاتی هوشمند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3" name="Shape 30"/>
          <p:cNvSpPr/>
          <p:nvPr/>
        </p:nvSpPr>
        <p:spPr>
          <a:xfrm>
            <a:off x="411480" y="3794760"/>
            <a:ext cx="4160520" cy="822960"/>
          </a:xfrm>
          <a:prstGeom prst="roundRect">
            <a:avLst>
              <a:gd name="adj" fmla="val 13333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3931920" y="3977640"/>
            <a:ext cx="502920" cy="45720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35" name="Text 32"/>
          <p:cNvSpPr/>
          <p:nvPr/>
        </p:nvSpPr>
        <p:spPr>
          <a:xfrm>
            <a:off x="3931920" y="40233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13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۸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85800" y="4023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تصمیم‌گیری مبتنی بر داده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Image 0" descr="preencoded.png">
            <a:extLst>
              <a:ext uri="{FF2B5EF4-FFF2-40B4-BE49-F238E27FC236}">
                <a16:creationId xmlns:a16="http://schemas.microsoft.com/office/drawing/2014/main" id="{4C1B47FE-9A08-BAE4-F8C0-047A37AB2A3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-486229" y="-2486479"/>
            <a:ext cx="10116457" cy="10116457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نقش‌های سیستم</a:t>
            </a:r>
            <a:endParaRPr lang="en-US" sz="2400" dirty="0">
              <a:latin typeface="Vazirmatn" pitchFamily="2" charset="-78"/>
              <a:cs typeface="Vazirmatn" pitchFamily="2" charset="-78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548640"/>
            <a:ext cx="1645920" cy="45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56032" y="777240"/>
            <a:ext cx="1691640" cy="4023360"/>
          </a:xfrm>
          <a:prstGeom prst="roundRect">
            <a:avLst>
              <a:gd name="adj" fmla="val 7568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56032" y="777240"/>
            <a:ext cx="1691640" cy="54864"/>
          </a:xfrm>
          <a:prstGeom prst="rect">
            <a:avLst/>
          </a:prstGeom>
          <a:solidFill>
            <a:srgbClr val="3B6FE8"/>
          </a:solidFill>
          <a:ln/>
        </p:spPr>
      </p:sp>
      <p:sp>
        <p:nvSpPr>
          <p:cNvPr id="7" name="Shape 4"/>
          <p:cNvSpPr/>
          <p:nvPr/>
        </p:nvSpPr>
        <p:spPr>
          <a:xfrm>
            <a:off x="713232" y="1051560"/>
            <a:ext cx="777240" cy="777240"/>
          </a:xfrm>
          <a:prstGeom prst="ellipse">
            <a:avLst/>
          </a:prstGeom>
          <a:solidFill>
            <a:srgbClr val="1A2436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" y="118872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47472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مدیر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65760" y="2468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آمار و گزارش‌ها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1" name="Text 7"/>
          <p:cNvSpPr/>
          <p:nvPr/>
        </p:nvSpPr>
        <p:spPr>
          <a:xfrm>
            <a:off x="365760" y="2971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کاربران و کلاس‌ها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2" name="Text 8"/>
          <p:cNvSpPr/>
          <p:nvPr/>
        </p:nvSpPr>
        <p:spPr>
          <a:xfrm>
            <a:off x="365760" y="34747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دانش‌آموزان پرخطر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3" name="Text 9"/>
          <p:cNvSpPr/>
          <p:nvPr/>
        </p:nvSpPr>
        <p:spPr>
          <a:xfrm>
            <a:off x="365760" y="3977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سلامت سیستم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2029968" y="777240"/>
            <a:ext cx="1691640" cy="4023360"/>
          </a:xfrm>
          <a:prstGeom prst="roundRect">
            <a:avLst>
              <a:gd name="adj" fmla="val 7568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2029968" y="777240"/>
            <a:ext cx="1691640" cy="54864"/>
          </a:xfrm>
          <a:prstGeom prst="rect">
            <a:avLst/>
          </a:prstGeom>
          <a:solidFill>
            <a:srgbClr val="FC155D"/>
          </a:solidFill>
          <a:ln/>
        </p:spPr>
      </p:sp>
      <p:sp>
        <p:nvSpPr>
          <p:cNvPr id="16" name="Shape 12"/>
          <p:cNvSpPr/>
          <p:nvPr/>
        </p:nvSpPr>
        <p:spPr>
          <a:xfrm>
            <a:off x="2487168" y="1051560"/>
            <a:ext cx="777240" cy="777240"/>
          </a:xfrm>
          <a:prstGeom prst="ellipse">
            <a:avLst/>
          </a:prstGeom>
          <a:solidFill>
            <a:srgbClr val="1A2436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4328" y="1188720"/>
            <a:ext cx="502920" cy="5029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121408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دبیر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9" name="Text 14"/>
          <p:cNvSpPr/>
          <p:nvPr/>
        </p:nvSpPr>
        <p:spPr>
          <a:xfrm>
            <a:off x="2139696" y="2468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حضور و غیاب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2139696" y="2971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نمرات و آزمون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1" name="Text 16"/>
          <p:cNvSpPr/>
          <p:nvPr/>
        </p:nvSpPr>
        <p:spPr>
          <a:xfrm>
            <a:off x="2139696" y="34747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تکالیف و رفتار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2" name="Text 17"/>
          <p:cNvSpPr/>
          <p:nvPr/>
        </p:nvSpPr>
        <p:spPr>
          <a:xfrm>
            <a:off x="2139696" y="3977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تحلیل کلاس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3803904" y="777240"/>
            <a:ext cx="1691640" cy="4023360"/>
          </a:xfrm>
          <a:prstGeom prst="roundRect">
            <a:avLst>
              <a:gd name="adj" fmla="val 7568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3803904" y="777240"/>
            <a:ext cx="1691640" cy="54864"/>
          </a:xfrm>
          <a:prstGeom prst="rect">
            <a:avLst/>
          </a:prstGeom>
          <a:solidFill>
            <a:srgbClr val="7B5CFF"/>
          </a:solidFill>
          <a:ln/>
        </p:spPr>
      </p:sp>
      <p:sp>
        <p:nvSpPr>
          <p:cNvPr id="25" name="Shape 20"/>
          <p:cNvSpPr/>
          <p:nvPr/>
        </p:nvSpPr>
        <p:spPr>
          <a:xfrm>
            <a:off x="4261104" y="1051560"/>
            <a:ext cx="777240" cy="777240"/>
          </a:xfrm>
          <a:prstGeom prst="ellipse">
            <a:avLst/>
          </a:prstGeom>
          <a:solidFill>
            <a:srgbClr val="1A2436"/>
          </a:solidFill>
          <a:ln/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8264" y="1188720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3895344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مشاور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8" name="Text 22"/>
          <p:cNvSpPr/>
          <p:nvPr/>
        </p:nvSpPr>
        <p:spPr>
          <a:xfrm>
            <a:off x="3913632" y="2468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پرخطرها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9" name="Text 23"/>
          <p:cNvSpPr/>
          <p:nvPr/>
        </p:nvSpPr>
        <p:spPr>
          <a:xfrm>
            <a:off x="3913632" y="2971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فرم سلامت روان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0" name="Text 24"/>
          <p:cNvSpPr/>
          <p:nvPr/>
        </p:nvSpPr>
        <p:spPr>
          <a:xfrm>
            <a:off x="3913632" y="34747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یادداشت مشاوره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1" name="Text 25"/>
          <p:cNvSpPr/>
          <p:nvPr/>
        </p:nvSpPr>
        <p:spPr>
          <a:xfrm>
            <a:off x="3913632" y="3977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پیشنهاد AI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5577840" y="777240"/>
            <a:ext cx="1691640" cy="4023360"/>
          </a:xfrm>
          <a:prstGeom prst="roundRect">
            <a:avLst>
              <a:gd name="adj" fmla="val 7568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5577840" y="777240"/>
            <a:ext cx="1691640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4" name="Shape 28"/>
          <p:cNvSpPr/>
          <p:nvPr/>
        </p:nvSpPr>
        <p:spPr>
          <a:xfrm>
            <a:off x="6035040" y="1051560"/>
            <a:ext cx="777240" cy="777240"/>
          </a:xfrm>
          <a:prstGeom prst="ellipse">
            <a:avLst/>
          </a:prstGeom>
          <a:solidFill>
            <a:srgbClr val="1A2436"/>
          </a:solidFill>
          <a:ln/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1188720"/>
            <a:ext cx="502920" cy="502920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669280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والدین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5687568" y="2468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پیشرفت فرزند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8" name="Text 31"/>
          <p:cNvSpPr/>
          <p:nvPr/>
        </p:nvSpPr>
        <p:spPr>
          <a:xfrm>
            <a:off x="5687568" y="2971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هشدارها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9" name="Text 32"/>
          <p:cNvSpPr/>
          <p:nvPr/>
        </p:nvSpPr>
        <p:spPr>
          <a:xfrm>
            <a:off x="5687568" y="34747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گزارش هفتگی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40" name="Text 33"/>
          <p:cNvSpPr/>
          <p:nvPr/>
        </p:nvSpPr>
        <p:spPr>
          <a:xfrm>
            <a:off x="5687568" y="3977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توصیه مطالعه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41" name="Shape 34"/>
          <p:cNvSpPr/>
          <p:nvPr/>
        </p:nvSpPr>
        <p:spPr>
          <a:xfrm>
            <a:off x="7351776" y="777240"/>
            <a:ext cx="1691640" cy="4023360"/>
          </a:xfrm>
          <a:prstGeom prst="roundRect">
            <a:avLst>
              <a:gd name="adj" fmla="val 7568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2" name="Shape 35"/>
          <p:cNvSpPr/>
          <p:nvPr/>
        </p:nvSpPr>
        <p:spPr>
          <a:xfrm>
            <a:off x="7351776" y="777240"/>
            <a:ext cx="16916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3" name="Shape 36"/>
          <p:cNvSpPr/>
          <p:nvPr/>
        </p:nvSpPr>
        <p:spPr>
          <a:xfrm>
            <a:off x="7808976" y="1051560"/>
            <a:ext cx="777240" cy="777240"/>
          </a:xfrm>
          <a:prstGeom prst="ellipse">
            <a:avLst/>
          </a:prstGeom>
          <a:solidFill>
            <a:srgbClr val="1A2436"/>
          </a:solidFill>
          <a:ln/>
        </p:spPr>
      </p:sp>
      <p:pic>
        <p:nvPicPr>
          <p:cNvPr id="44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46136" y="1188720"/>
            <a:ext cx="502920" cy="502920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7443216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دانش‌آموز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7461504" y="2468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نمرات و پیش‌بینی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7461504" y="29718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برنامه مطالعاتی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7461504" y="347472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فرم سلامت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7461504" y="397764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هدایت تحصیلی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>
            <a:off x="2876406" y="-838072"/>
            <a:ext cx="3579163" cy="322326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 ۱۰ الگوریتم هوشمند</a:t>
            </a:r>
            <a:endParaRPr lang="en-US" sz="2400" dirty="0">
              <a:latin typeface="Vazirmatn" pitchFamily="2" charset="-78"/>
              <a:cs typeface="Vazirmatn" pitchFamily="2" charset="-78"/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569" y="531256"/>
            <a:ext cx="2271712" cy="6310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205472" y="777240"/>
            <a:ext cx="1664208" cy="1828800"/>
          </a:xfrm>
          <a:prstGeom prst="roundRect">
            <a:avLst>
              <a:gd name="adj" fmla="val 769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296912" y="10515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2000" b="1" dirty="0">
                <a:solidFill>
                  <a:srgbClr val="FC155D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۱</a:t>
            </a:r>
            <a:endParaRPr lang="en-US" sz="20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8" name="Text 4"/>
          <p:cNvSpPr/>
          <p:nvPr/>
        </p:nvSpPr>
        <p:spPr>
          <a:xfrm>
            <a:off x="7296912" y="160020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هشدار زودهنگام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9" name="Text 5"/>
          <p:cNvSpPr/>
          <p:nvPr/>
        </p:nvSpPr>
        <p:spPr>
          <a:xfrm>
            <a:off x="7296912" y="201168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Risk Score ۰–۱۰۰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5449824" y="777240"/>
            <a:ext cx="1664208" cy="1828800"/>
          </a:xfrm>
          <a:prstGeom prst="roundRect">
            <a:avLst>
              <a:gd name="adj" fmla="val 769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541264" y="10515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2000" b="1" dirty="0">
                <a:solidFill>
                  <a:srgbClr val="FC155D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۲</a:t>
            </a:r>
            <a:endParaRPr lang="en-US" sz="20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541264" y="160020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سلامت روان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3" name="Text 9"/>
          <p:cNvSpPr/>
          <p:nvPr/>
        </p:nvSpPr>
        <p:spPr>
          <a:xfrm>
            <a:off x="5541264" y="201168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فرم هفتگی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3694176" y="777240"/>
            <a:ext cx="1664208" cy="1828800"/>
          </a:xfrm>
          <a:prstGeom prst="roundRect">
            <a:avLst>
              <a:gd name="adj" fmla="val 769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785616" y="10515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2000" b="1" dirty="0">
                <a:solidFill>
                  <a:srgbClr val="FC155D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۳</a:t>
            </a:r>
            <a:endParaRPr lang="en-US" sz="20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3785616" y="160020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تحلیل دبیر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3785616" y="201168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کارایی کلاس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8" name="Shape 14"/>
          <p:cNvSpPr/>
          <p:nvPr/>
        </p:nvSpPr>
        <p:spPr>
          <a:xfrm>
            <a:off x="1938528" y="777240"/>
            <a:ext cx="1664208" cy="1828800"/>
          </a:xfrm>
          <a:prstGeom prst="roundRect">
            <a:avLst>
              <a:gd name="adj" fmla="val 769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2029968" y="10515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2000" b="1" dirty="0">
                <a:solidFill>
                  <a:srgbClr val="FC155D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۴</a:t>
            </a:r>
            <a:endParaRPr lang="en-US" sz="20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0" name="Text 16"/>
          <p:cNvSpPr/>
          <p:nvPr/>
        </p:nvSpPr>
        <p:spPr>
          <a:xfrm>
            <a:off x="2029968" y="160020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تحلیل مدرسه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1" name="Text 17"/>
          <p:cNvSpPr/>
          <p:nvPr/>
        </p:nvSpPr>
        <p:spPr>
          <a:xfrm>
            <a:off x="2029968" y="201168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داشبورد مدیریت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2" name="Shape 18"/>
          <p:cNvSpPr/>
          <p:nvPr/>
        </p:nvSpPr>
        <p:spPr>
          <a:xfrm>
            <a:off x="182880" y="777240"/>
            <a:ext cx="1664208" cy="1828800"/>
          </a:xfrm>
          <a:prstGeom prst="roundRect">
            <a:avLst>
              <a:gd name="adj" fmla="val 769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274320" y="105156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2000" b="1" dirty="0">
                <a:solidFill>
                  <a:srgbClr val="FC155D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۵</a:t>
            </a:r>
            <a:endParaRPr lang="en-US" sz="20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4" name="Text 20"/>
          <p:cNvSpPr/>
          <p:nvPr/>
        </p:nvSpPr>
        <p:spPr>
          <a:xfrm>
            <a:off x="274320" y="160020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هدایت تحصیلی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5" name="Text 21"/>
          <p:cNvSpPr/>
          <p:nvPr/>
        </p:nvSpPr>
        <p:spPr>
          <a:xfrm>
            <a:off x="274320" y="201168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پیشنهاد رشته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6" name="Shape 22"/>
          <p:cNvSpPr/>
          <p:nvPr/>
        </p:nvSpPr>
        <p:spPr>
          <a:xfrm>
            <a:off x="7205472" y="2788920"/>
            <a:ext cx="1664208" cy="1828800"/>
          </a:xfrm>
          <a:prstGeom prst="roundRect">
            <a:avLst>
              <a:gd name="adj" fmla="val 769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7296912" y="306324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20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۶</a:t>
            </a:r>
            <a:endParaRPr lang="en-US" sz="20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8" name="Text 24"/>
          <p:cNvSpPr/>
          <p:nvPr/>
        </p:nvSpPr>
        <p:spPr>
          <a:xfrm>
            <a:off x="7296912" y="3611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پیش‌بینی نمرات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9" name="Text 25"/>
          <p:cNvSpPr/>
          <p:nvPr/>
        </p:nvSpPr>
        <p:spPr>
          <a:xfrm>
            <a:off x="7296912" y="40233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احتمال قبولی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0" name="Shape 26"/>
          <p:cNvSpPr/>
          <p:nvPr/>
        </p:nvSpPr>
        <p:spPr>
          <a:xfrm>
            <a:off x="5449824" y="2788920"/>
            <a:ext cx="1664208" cy="1828800"/>
          </a:xfrm>
          <a:prstGeom prst="roundRect">
            <a:avLst>
              <a:gd name="adj" fmla="val 769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5541264" y="306324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20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۷</a:t>
            </a:r>
            <a:endParaRPr lang="en-US" sz="20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2" name="Text 28"/>
          <p:cNvSpPr/>
          <p:nvPr/>
        </p:nvSpPr>
        <p:spPr>
          <a:xfrm>
            <a:off x="5541264" y="3611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تحلیل والدین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3" name="Text 29"/>
          <p:cNvSpPr/>
          <p:nvPr/>
        </p:nvSpPr>
        <p:spPr>
          <a:xfrm>
            <a:off x="5541264" y="40233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توصیه شخصی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4" name="Shape 30"/>
          <p:cNvSpPr/>
          <p:nvPr/>
        </p:nvSpPr>
        <p:spPr>
          <a:xfrm>
            <a:off x="3694176" y="2788920"/>
            <a:ext cx="1664208" cy="1828800"/>
          </a:xfrm>
          <a:prstGeom prst="roundRect">
            <a:avLst>
              <a:gd name="adj" fmla="val 769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5" name="Text 31"/>
          <p:cNvSpPr/>
          <p:nvPr/>
        </p:nvSpPr>
        <p:spPr>
          <a:xfrm>
            <a:off x="3785616" y="306324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20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۸</a:t>
            </a:r>
            <a:endParaRPr lang="en-US" sz="20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6" name="Text 32"/>
          <p:cNvSpPr/>
          <p:nvPr/>
        </p:nvSpPr>
        <p:spPr>
          <a:xfrm>
            <a:off x="3785616" y="3611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تشخیص تقلب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7" name="Text 33"/>
          <p:cNvSpPr/>
          <p:nvPr/>
        </p:nvSpPr>
        <p:spPr>
          <a:xfrm>
            <a:off x="3785616" y="40233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الگوی مشکوک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8" name="Shape 34"/>
          <p:cNvSpPr/>
          <p:nvPr/>
        </p:nvSpPr>
        <p:spPr>
          <a:xfrm>
            <a:off x="1938528" y="2788920"/>
            <a:ext cx="1664208" cy="1828800"/>
          </a:xfrm>
          <a:prstGeom prst="roundRect">
            <a:avLst>
              <a:gd name="adj" fmla="val 769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9" name="Text 35"/>
          <p:cNvSpPr/>
          <p:nvPr/>
        </p:nvSpPr>
        <p:spPr>
          <a:xfrm>
            <a:off x="2029968" y="306324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20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۹</a:t>
            </a:r>
            <a:endParaRPr lang="en-US" sz="20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40" name="Text 36"/>
          <p:cNvSpPr/>
          <p:nvPr/>
        </p:nvSpPr>
        <p:spPr>
          <a:xfrm>
            <a:off x="2029968" y="3611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برنامه مطالعه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41" name="Text 37"/>
          <p:cNvSpPr/>
          <p:nvPr/>
        </p:nvSpPr>
        <p:spPr>
          <a:xfrm>
            <a:off x="2029968" y="40233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هفتگی شخصی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42" name="Shape 38"/>
          <p:cNvSpPr/>
          <p:nvPr/>
        </p:nvSpPr>
        <p:spPr>
          <a:xfrm>
            <a:off x="182880" y="2788920"/>
            <a:ext cx="1664208" cy="1828800"/>
          </a:xfrm>
          <a:prstGeom prst="roundRect">
            <a:avLst>
              <a:gd name="adj" fmla="val 769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43" name="Text 39"/>
          <p:cNvSpPr/>
          <p:nvPr/>
        </p:nvSpPr>
        <p:spPr>
          <a:xfrm>
            <a:off x="274320" y="306324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a-IR" sz="20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۱۰</a:t>
            </a:r>
            <a:endParaRPr lang="en-US" sz="20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44" name="Text 40"/>
          <p:cNvSpPr/>
          <p:nvPr/>
        </p:nvSpPr>
        <p:spPr>
          <a:xfrm>
            <a:off x="274320" y="361188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تحلیل جامع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45" name="Text 41"/>
          <p:cNvSpPr/>
          <p:nvPr/>
        </p:nvSpPr>
        <p:spPr>
          <a:xfrm>
            <a:off x="274320" y="402336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نمودار عملکرد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Image 0" descr="preencoded.png">
            <a:extLst>
              <a:ext uri="{FF2B5EF4-FFF2-40B4-BE49-F238E27FC236}">
                <a16:creationId xmlns:a16="http://schemas.microsoft.com/office/drawing/2014/main" id="{86EEF403-36DD-53E6-EFEF-2F62EFC7134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-1325880" y="-1051560"/>
            <a:ext cx="3657600" cy="36576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365760" y="182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هشدار زودهنگام — Early Warning AI</a:t>
            </a:r>
            <a:endParaRPr lang="en-US" sz="2200" dirty="0">
              <a:latin typeface="Vazirmatn" pitchFamily="2" charset="-78"/>
              <a:cs typeface="Vazirmatn" pitchFamily="2" charset="-78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548640"/>
            <a:ext cx="1645920" cy="45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777240"/>
            <a:ext cx="4114800" cy="4023360"/>
          </a:xfrm>
          <a:prstGeom prst="roundRect">
            <a:avLst>
              <a:gd name="adj" fmla="val 318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02920" y="9601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FC155D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ورودی‌های مدل</a:t>
            </a:r>
            <a:endParaRPr lang="en-US" sz="15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7" name="Text 4"/>
          <p:cNvSpPr/>
          <p:nvPr/>
        </p:nvSpPr>
        <p:spPr>
          <a:xfrm>
            <a:off x="640080" y="14173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نمرات و آزمون‌ها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383280" y="1463040"/>
            <a:ext cx="777240" cy="292608"/>
          </a:xfrm>
          <a:prstGeom prst="roundRect">
            <a:avLst>
              <a:gd name="adj" fmla="val 25000"/>
            </a:avLst>
          </a:prstGeom>
          <a:solidFill>
            <a:srgbClr val="1A2436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146304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۲۵٪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40080" y="185623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حضور و غیاب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3383280" y="1901952"/>
            <a:ext cx="777240" cy="292608"/>
          </a:xfrm>
          <a:prstGeom prst="roundRect">
            <a:avLst>
              <a:gd name="adj" fmla="val 25000"/>
            </a:avLst>
          </a:prstGeom>
          <a:solidFill>
            <a:srgbClr val="1A2436"/>
          </a:solidFill>
          <a:ln/>
        </p:spPr>
      </p:sp>
      <p:sp>
        <p:nvSpPr>
          <p:cNvPr id="12" name="Text 9"/>
          <p:cNvSpPr/>
          <p:nvPr/>
        </p:nvSpPr>
        <p:spPr>
          <a:xfrm>
            <a:off x="3383280" y="19019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۲۰٪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640080" y="22951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تکالیف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3383280" y="2340864"/>
            <a:ext cx="777240" cy="292608"/>
          </a:xfrm>
          <a:prstGeom prst="roundRect">
            <a:avLst>
              <a:gd name="adj" fmla="val 25000"/>
            </a:avLst>
          </a:prstGeom>
          <a:solidFill>
            <a:srgbClr val="1A2436"/>
          </a:solidFill>
          <a:ln/>
        </p:spPr>
      </p:sp>
      <p:sp>
        <p:nvSpPr>
          <p:cNvPr id="15" name="Text 12"/>
          <p:cNvSpPr/>
          <p:nvPr/>
        </p:nvSpPr>
        <p:spPr>
          <a:xfrm>
            <a:off x="3383280" y="234086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۱۵٪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640080" y="27340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سلامت روان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3383280" y="2779776"/>
            <a:ext cx="777240" cy="292608"/>
          </a:xfrm>
          <a:prstGeom prst="roundRect">
            <a:avLst>
              <a:gd name="adj" fmla="val 25000"/>
            </a:avLst>
          </a:prstGeom>
          <a:solidFill>
            <a:srgbClr val="1A2436"/>
          </a:solidFill>
          <a:ln/>
        </p:spPr>
      </p:sp>
      <p:sp>
        <p:nvSpPr>
          <p:cNvPr id="18" name="Text 15"/>
          <p:cNvSpPr/>
          <p:nvPr/>
        </p:nvSpPr>
        <p:spPr>
          <a:xfrm>
            <a:off x="3383280" y="277977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۱۵٪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640080" y="31729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روند (شیب)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3383280" y="3218688"/>
            <a:ext cx="777240" cy="292608"/>
          </a:xfrm>
          <a:prstGeom prst="roundRect">
            <a:avLst>
              <a:gd name="adj" fmla="val 25000"/>
            </a:avLst>
          </a:prstGeom>
          <a:solidFill>
            <a:srgbClr val="1A2436"/>
          </a:solidFill>
          <a:ln/>
        </p:spPr>
      </p:sp>
      <p:sp>
        <p:nvSpPr>
          <p:cNvPr id="21" name="Text 18"/>
          <p:cNvSpPr/>
          <p:nvPr/>
        </p:nvSpPr>
        <p:spPr>
          <a:xfrm>
            <a:off x="3383280" y="321868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۱۰٪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640080" y="3611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رفتار کلاسی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3" name="Shape 20"/>
          <p:cNvSpPr/>
          <p:nvPr/>
        </p:nvSpPr>
        <p:spPr>
          <a:xfrm>
            <a:off x="3383280" y="3657600"/>
            <a:ext cx="777240" cy="292608"/>
          </a:xfrm>
          <a:prstGeom prst="roundRect">
            <a:avLst>
              <a:gd name="adj" fmla="val 25000"/>
            </a:avLst>
          </a:prstGeom>
          <a:solidFill>
            <a:srgbClr val="1A2436"/>
          </a:solidFill>
          <a:ln/>
        </p:spPr>
      </p:sp>
      <p:sp>
        <p:nvSpPr>
          <p:cNvPr id="24" name="Text 21"/>
          <p:cNvSpPr/>
          <p:nvPr/>
        </p:nvSpPr>
        <p:spPr>
          <a:xfrm>
            <a:off x="3383280" y="36576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۱۰٪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40080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تأخیر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3383280" y="4096512"/>
            <a:ext cx="777240" cy="292608"/>
          </a:xfrm>
          <a:prstGeom prst="roundRect">
            <a:avLst>
              <a:gd name="adj" fmla="val 25000"/>
            </a:avLst>
          </a:prstGeom>
          <a:solidFill>
            <a:srgbClr val="1A2436"/>
          </a:solidFill>
          <a:ln/>
        </p:spPr>
      </p:sp>
      <p:sp>
        <p:nvSpPr>
          <p:cNvPr id="27" name="Text 24"/>
          <p:cNvSpPr/>
          <p:nvPr/>
        </p:nvSpPr>
        <p:spPr>
          <a:xfrm>
            <a:off x="3383280" y="409651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C7CF0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۵٪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4663440" y="777240"/>
            <a:ext cx="4114800" cy="4023360"/>
          </a:xfrm>
          <a:prstGeom prst="roundRect">
            <a:avLst>
              <a:gd name="adj" fmla="val 3182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4846320" y="1005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Risk Score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0" name="Text 27"/>
          <p:cNvSpPr/>
          <p:nvPr/>
        </p:nvSpPr>
        <p:spPr>
          <a:xfrm>
            <a:off x="4846320" y="13716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2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۱۰۰  — </a:t>
            </a:r>
            <a:r>
              <a:rPr lang="fa-IR" sz="32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۰</a:t>
            </a:r>
            <a:endParaRPr lang="en-US" sz="3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5120640" y="2057400"/>
            <a:ext cx="3200400" cy="256032"/>
          </a:xfrm>
          <a:prstGeom prst="roundRect">
            <a:avLst>
              <a:gd name="adj" fmla="val 35714"/>
            </a:avLst>
          </a:prstGeom>
          <a:solidFill>
            <a:srgbClr val="1A2436"/>
          </a:solidFill>
          <a:ln/>
        </p:spPr>
      </p:sp>
      <p:sp>
        <p:nvSpPr>
          <p:cNvPr id="32" name="Shape 29"/>
          <p:cNvSpPr/>
          <p:nvPr/>
        </p:nvSpPr>
        <p:spPr>
          <a:xfrm>
            <a:off x="5120640" y="2057400"/>
            <a:ext cx="2377440" cy="256032"/>
          </a:xfrm>
          <a:prstGeom prst="roundRect">
            <a:avLst>
              <a:gd name="adj" fmla="val 35714"/>
            </a:avLst>
          </a:prstGeom>
          <a:solidFill>
            <a:srgbClr val="FC155D"/>
          </a:solidFill>
          <a:ln/>
        </p:spPr>
      </p:sp>
      <p:sp>
        <p:nvSpPr>
          <p:cNvPr id="33" name="Text 30"/>
          <p:cNvSpPr/>
          <p:nvPr/>
        </p:nvSpPr>
        <p:spPr>
          <a:xfrm>
            <a:off x="4846320" y="2468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4D7A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آستانه بحرانی: ≥ ۷۵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4" name="Text 31"/>
          <p:cNvSpPr/>
          <p:nvPr/>
        </p:nvSpPr>
        <p:spPr>
          <a:xfrm>
            <a:off x="4846320" y="2971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هشدار خودکار به: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5212080" y="3383280"/>
            <a:ext cx="3017520" cy="347472"/>
          </a:xfrm>
          <a:prstGeom prst="roundRect">
            <a:avLst>
              <a:gd name="adj" fmla="val 26316"/>
            </a:avLst>
          </a:prstGeom>
          <a:solidFill>
            <a:srgbClr val="1A2436"/>
          </a:solidFill>
          <a:ln/>
        </p:spPr>
      </p:sp>
      <p:sp>
        <p:nvSpPr>
          <p:cNvPr id="36" name="Text 33"/>
          <p:cNvSpPr/>
          <p:nvPr/>
        </p:nvSpPr>
        <p:spPr>
          <a:xfrm>
            <a:off x="5212080" y="33832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مدیر مدرسه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7" name="Shape 34"/>
          <p:cNvSpPr/>
          <p:nvPr/>
        </p:nvSpPr>
        <p:spPr>
          <a:xfrm>
            <a:off x="5212080" y="3794760"/>
            <a:ext cx="3017520" cy="347472"/>
          </a:xfrm>
          <a:prstGeom prst="roundRect">
            <a:avLst>
              <a:gd name="adj" fmla="val 26316"/>
            </a:avLst>
          </a:prstGeom>
          <a:solidFill>
            <a:srgbClr val="1A2436"/>
          </a:solidFill>
          <a:ln/>
        </p:spPr>
      </p:sp>
      <p:sp>
        <p:nvSpPr>
          <p:cNvPr id="38" name="Text 35"/>
          <p:cNvSpPr/>
          <p:nvPr/>
        </p:nvSpPr>
        <p:spPr>
          <a:xfrm>
            <a:off x="5212080" y="37947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مشاور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5212080" y="4206240"/>
            <a:ext cx="3017520" cy="347472"/>
          </a:xfrm>
          <a:prstGeom prst="roundRect">
            <a:avLst>
              <a:gd name="adj" fmla="val 26316"/>
            </a:avLst>
          </a:prstGeom>
          <a:solidFill>
            <a:srgbClr val="1A2436"/>
          </a:solidFill>
          <a:ln/>
        </p:spPr>
      </p:sp>
      <p:sp>
        <p:nvSpPr>
          <p:cNvPr id="40" name="Text 37"/>
          <p:cNvSpPr/>
          <p:nvPr/>
        </p:nvSpPr>
        <p:spPr>
          <a:xfrm>
            <a:off x="5212080" y="42062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والدین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Image 0" descr="preencoded.png">
            <a:extLst>
              <a:ext uri="{FF2B5EF4-FFF2-40B4-BE49-F238E27FC236}">
                <a16:creationId xmlns:a16="http://schemas.microsoft.com/office/drawing/2014/main" id="{2F0DAB78-8456-E401-97A4-8562604C5EC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 rot="16200000">
            <a:off x="-914400" y="-1399032"/>
            <a:ext cx="3657600" cy="3657600"/>
          </a:xfrm>
          <a:prstGeom prst="rect">
            <a:avLst/>
          </a:prstGeom>
        </p:spPr>
      </p:pic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147529C6-584C-0616-996A-512DBCC766C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6949440" y="-1696212"/>
            <a:ext cx="3657600" cy="3657600"/>
          </a:xfrm>
          <a:prstGeom prst="rect">
            <a:avLst/>
          </a:prstGeom>
        </p:spPr>
      </p:pic>
      <p:pic>
        <p:nvPicPr>
          <p:cNvPr id="38" name="Image 0" descr="preencoded.png">
            <a:extLst>
              <a:ext uri="{FF2B5EF4-FFF2-40B4-BE49-F238E27FC236}">
                <a16:creationId xmlns:a16="http://schemas.microsoft.com/office/drawing/2014/main" id="{1D3C6A6B-DED1-5FFB-AFF5-2E3BBB1CE4C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 rot="16200000">
            <a:off x="-914400" y="3131820"/>
            <a:ext cx="3657600" cy="3657600"/>
          </a:xfrm>
          <a:prstGeom prst="rect">
            <a:avLst/>
          </a:prstGeom>
        </p:spPr>
      </p:pic>
      <p:pic>
        <p:nvPicPr>
          <p:cNvPr id="39" name="Image 0" descr="preencoded.png">
            <a:extLst>
              <a:ext uri="{FF2B5EF4-FFF2-40B4-BE49-F238E27FC236}">
                <a16:creationId xmlns:a16="http://schemas.microsoft.com/office/drawing/2014/main" id="{444B79AA-964A-0460-B966-DD4FBB79035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6949440" y="2834640"/>
            <a:ext cx="3657600" cy="36576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365760" y="182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الگوریتم‌های کلیدی</a:t>
            </a:r>
            <a:endParaRPr lang="en-US" sz="2200" dirty="0">
              <a:latin typeface="Vazirmatn" pitchFamily="2" charset="-78"/>
              <a:cs typeface="Vazirmatn" pitchFamily="2" charset="-78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548640"/>
            <a:ext cx="1645920" cy="45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777240"/>
            <a:ext cx="4251960" cy="1234440"/>
          </a:xfrm>
          <a:prstGeom prst="roundRect">
            <a:avLst>
              <a:gd name="adj" fmla="val 8889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023360" y="109728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1A2436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7368" y="1161288"/>
            <a:ext cx="292608" cy="2926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960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سلامت روان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9" name="Text 5"/>
          <p:cNvSpPr/>
          <p:nvPr/>
        </p:nvSpPr>
        <p:spPr>
          <a:xfrm>
            <a:off x="548640" y="1371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فرم ۸ سؤالی هفتگی → استرس، اضطراب، انگیزه و احتمال ترک تحصیل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4754880" y="777240"/>
            <a:ext cx="4251960" cy="1234440"/>
          </a:xfrm>
          <a:prstGeom prst="roundRect">
            <a:avLst>
              <a:gd name="adj" fmla="val 8889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8458200" y="109728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1A243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2208" y="1161288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983480" y="960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پیش‌بینی نمرات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4" name="Text 9"/>
          <p:cNvSpPr/>
          <p:nvPr/>
        </p:nvSpPr>
        <p:spPr>
          <a:xfrm>
            <a:off x="4983480" y="13716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رگرسیون خطی + لوجستیک → احتمال قبولی یا افت با درصد اطمینان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320040" y="2148840"/>
            <a:ext cx="4251960" cy="1234440"/>
          </a:xfrm>
          <a:prstGeom prst="roundRect">
            <a:avLst>
              <a:gd name="adj" fmla="val 8889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023360" y="246888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1A2436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87368" y="2532888"/>
            <a:ext cx="292608" cy="29260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8640" y="2331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برنامه مطالعاتی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548640" y="2743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تولید خودکار هفتگی بر اساس ضعف و اهمیت دروس با به‌روزرسانی پویا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0" name="Shape 14"/>
          <p:cNvSpPr/>
          <p:nvPr/>
        </p:nvSpPr>
        <p:spPr>
          <a:xfrm>
            <a:off x="4754880" y="2148840"/>
            <a:ext cx="4251960" cy="1234440"/>
          </a:xfrm>
          <a:prstGeom prst="roundRect">
            <a:avLst>
              <a:gd name="adj" fmla="val 8889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458200" y="246888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1A2436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22208" y="2532888"/>
            <a:ext cx="292608" cy="29260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983480" y="2331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تشخیص تقلب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4" name="Text 17"/>
          <p:cNvSpPr/>
          <p:nvPr/>
        </p:nvSpPr>
        <p:spPr>
          <a:xfrm>
            <a:off x="4983480" y="2743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همبستگی پاسخ‌ها و پرش هم‌زمان نمرات → پرچم‌گذاری مشکوک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5" name="Shape 18"/>
          <p:cNvSpPr/>
          <p:nvPr/>
        </p:nvSpPr>
        <p:spPr>
          <a:xfrm>
            <a:off x="320040" y="3520440"/>
            <a:ext cx="4251960" cy="1234440"/>
          </a:xfrm>
          <a:prstGeom prst="roundRect">
            <a:avLst>
              <a:gd name="adj" fmla="val 8889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023360" y="384048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1A2436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7368" y="3904488"/>
            <a:ext cx="292608" cy="292608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4864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هدایت تحصیلی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548640" y="4114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تطبیق علایق، نمرات و مهارت‌ها با خانواده‌های رشته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4754880" y="3520440"/>
            <a:ext cx="4251960" cy="1234440"/>
          </a:xfrm>
          <a:prstGeom prst="roundRect">
            <a:avLst>
              <a:gd name="adj" fmla="val 8889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458200" y="3840480"/>
            <a:ext cx="411480" cy="411480"/>
          </a:xfrm>
          <a:prstGeom prst="roundRect">
            <a:avLst>
              <a:gd name="adj" fmla="val 22222"/>
            </a:avLst>
          </a:prstGeom>
          <a:solidFill>
            <a:srgbClr val="1A2436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2208" y="3904488"/>
            <a:ext cx="292608" cy="292608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498348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تحلیل دبیر و مدرسه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4" name="Text 25"/>
          <p:cNvSpPr/>
          <p:nvPr/>
        </p:nvSpPr>
        <p:spPr>
          <a:xfrm>
            <a:off x="4983480" y="41148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4A3B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شاخص کارایی، کلاس‌های بحرانی و روند رشد</a:t>
            </a:r>
            <a:endParaRPr lang="en-US" sz="1200" dirty="0">
              <a:latin typeface="Vazirmatn" pitchFamily="2" charset="-78"/>
              <a:cs typeface="Vazirmatn" pitchFamily="2" charset="-78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Image 0" descr="preencoded.png">
            <a:extLst>
              <a:ext uri="{FF2B5EF4-FFF2-40B4-BE49-F238E27FC236}">
                <a16:creationId xmlns:a16="http://schemas.microsoft.com/office/drawing/2014/main" id="{FB48DFB3-2688-4E6E-E1B6-1BD60F02699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2000250" y="2230120"/>
            <a:ext cx="5143500" cy="51435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365760" y="182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فناوری و پایگاه داده</a:t>
            </a:r>
            <a:endParaRPr lang="en-US" sz="2200" dirty="0">
              <a:latin typeface="Vazirmatn" pitchFamily="2" charset="-78"/>
              <a:cs typeface="Vazirmatn" pitchFamily="2" charset="-78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548640"/>
            <a:ext cx="1645920" cy="45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532120" y="777240"/>
            <a:ext cx="3192018" cy="777240"/>
          </a:xfrm>
          <a:prstGeom prst="roundRect">
            <a:avLst>
              <a:gd name="adj" fmla="val 14118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766560" y="83928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3B6FE8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Frontend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8" name="Text 5"/>
          <p:cNvSpPr/>
          <p:nvPr/>
        </p:nvSpPr>
        <p:spPr>
          <a:xfrm>
            <a:off x="5440680" y="1188720"/>
            <a:ext cx="3063240" cy="153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React  ·  </a:t>
            </a:r>
            <a:r>
              <a:rPr lang="en-US" sz="1300" dirty="0" err="1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TailwindCSS</a:t>
            </a:r>
            <a:r>
              <a:rPr lang="en-US" sz="13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 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9" name="Shape 6"/>
          <p:cNvSpPr/>
          <p:nvPr/>
        </p:nvSpPr>
        <p:spPr>
          <a:xfrm>
            <a:off x="312039" y="778056"/>
            <a:ext cx="3192018" cy="777240"/>
          </a:xfrm>
          <a:prstGeom prst="roundRect">
            <a:avLst>
              <a:gd name="adj" fmla="val 14118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546479" y="840105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C155D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Backend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2" name="Text 9"/>
          <p:cNvSpPr/>
          <p:nvPr/>
        </p:nvSpPr>
        <p:spPr>
          <a:xfrm>
            <a:off x="220599" y="1189536"/>
            <a:ext cx="3063240" cy="153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Node.js · Vite ·  Express  ·  TypeScript  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3" name="Shape 10"/>
          <p:cNvSpPr/>
          <p:nvPr/>
        </p:nvSpPr>
        <p:spPr>
          <a:xfrm rot="16200000">
            <a:off x="3955632" y="830509"/>
            <a:ext cx="1098055" cy="1009650"/>
          </a:xfrm>
          <a:prstGeom prst="roundRect">
            <a:avLst>
              <a:gd name="adj" fmla="val 14118"/>
            </a:avLst>
          </a:prstGeom>
          <a:solidFill>
            <a:srgbClr val="121A28"/>
          </a:solidFill>
          <a:ln/>
          <a:effectLst>
            <a:outerShdw blurRad="254000" dist="50800" dir="81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079137" y="909159"/>
            <a:ext cx="7635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5CFF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Database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4269783" y="1258590"/>
            <a:ext cx="481478" cy="153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BD5E1"/>
                </a:solidFill>
                <a:latin typeface="Vazirmatn" pitchFamily="2" charset="-78"/>
                <a:cs typeface="Vazirmatn" pitchFamily="2" charset="-78"/>
              </a:rPr>
              <a:t>Json</a:t>
            </a: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2087517" y="2259952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19" name="Text 16"/>
          <p:cNvSpPr/>
          <p:nvPr/>
        </p:nvSpPr>
        <p:spPr>
          <a:xfrm>
            <a:off x="2087517" y="2278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admin.json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3788301" y="2261992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21" name="Text 18"/>
          <p:cNvSpPr/>
          <p:nvPr/>
        </p:nvSpPr>
        <p:spPr>
          <a:xfrm>
            <a:off x="3788301" y="228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teachers.json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3783158" y="2727312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23" name="Text 20"/>
          <p:cNvSpPr/>
          <p:nvPr/>
        </p:nvSpPr>
        <p:spPr>
          <a:xfrm>
            <a:off x="3783158" y="2745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students.json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4" name="Shape 21"/>
          <p:cNvSpPr/>
          <p:nvPr/>
        </p:nvSpPr>
        <p:spPr>
          <a:xfrm>
            <a:off x="5483942" y="2728201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25" name="Text 22"/>
          <p:cNvSpPr/>
          <p:nvPr/>
        </p:nvSpPr>
        <p:spPr>
          <a:xfrm>
            <a:off x="5483942" y="2746489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parents.json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5483942" y="2261992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27" name="Text 24"/>
          <p:cNvSpPr/>
          <p:nvPr/>
        </p:nvSpPr>
        <p:spPr>
          <a:xfrm>
            <a:off x="5483942" y="22802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consultants.json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28" name="Shape 25"/>
          <p:cNvSpPr/>
          <p:nvPr/>
        </p:nvSpPr>
        <p:spPr>
          <a:xfrm>
            <a:off x="2087517" y="2726296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29" name="Text 26"/>
          <p:cNvSpPr/>
          <p:nvPr/>
        </p:nvSpPr>
        <p:spPr>
          <a:xfrm>
            <a:off x="2087517" y="2744584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grades.json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2094089" y="3165208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31" name="Text 28"/>
          <p:cNvSpPr/>
          <p:nvPr/>
        </p:nvSpPr>
        <p:spPr>
          <a:xfrm>
            <a:off x="2094089" y="3183496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books.json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2" name="Shape 29"/>
          <p:cNvSpPr/>
          <p:nvPr/>
        </p:nvSpPr>
        <p:spPr>
          <a:xfrm>
            <a:off x="3788301" y="3167167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33" name="Text 30"/>
          <p:cNvSpPr/>
          <p:nvPr/>
        </p:nvSpPr>
        <p:spPr>
          <a:xfrm>
            <a:off x="3788301" y="3185455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notes.json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483942" y="3167167"/>
            <a:ext cx="1645920" cy="365760"/>
          </a:xfrm>
          <a:prstGeom prst="roundRect">
            <a:avLst>
              <a:gd name="adj" fmla="val 20000"/>
            </a:avLst>
          </a:prstGeom>
          <a:solidFill>
            <a:srgbClr val="1A2436"/>
          </a:solidFill>
          <a:ln/>
        </p:spPr>
      </p:sp>
      <p:sp>
        <p:nvSpPr>
          <p:cNvPr id="35" name="Text 32"/>
          <p:cNvSpPr/>
          <p:nvPr/>
        </p:nvSpPr>
        <p:spPr>
          <a:xfrm>
            <a:off x="5483942" y="3185455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ai-analysis.json</a:t>
            </a: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FA657B32-0EB6-9954-7EC0-6B47B65E8716}"/>
              </a:ext>
            </a:extLst>
          </p:cNvPr>
          <p:cNvSpPr/>
          <p:nvPr/>
        </p:nvSpPr>
        <p:spPr>
          <a:xfrm>
            <a:off x="8651367" y="778056"/>
            <a:ext cx="45719" cy="776424"/>
          </a:xfrm>
          <a:prstGeom prst="roundRect">
            <a:avLst/>
          </a:prstGeom>
          <a:solidFill>
            <a:srgbClr val="3B6FE8"/>
          </a:solidFill>
          <a:ln>
            <a:solidFill>
              <a:srgbClr val="3B6F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accent1"/>
                </a:solidFill>
              </a:ln>
              <a:solidFill>
                <a:schemeClr val="accent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E744793-453D-3C2D-222F-0E049B9D79AB}"/>
              </a:ext>
            </a:extLst>
          </p:cNvPr>
          <p:cNvSpPr/>
          <p:nvPr/>
        </p:nvSpPr>
        <p:spPr>
          <a:xfrm>
            <a:off x="3437734" y="777240"/>
            <a:ext cx="47497" cy="767080"/>
          </a:xfrm>
          <a:prstGeom prst="roundRect">
            <a:avLst/>
          </a:prstGeom>
          <a:solidFill>
            <a:srgbClr val="FC155D"/>
          </a:solidFill>
          <a:ln>
            <a:solidFill>
              <a:srgbClr val="FC15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accent1"/>
                </a:solidFill>
              </a:ln>
              <a:solidFill>
                <a:schemeClr val="accent1"/>
              </a:solidFill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5CE41AAA-2474-C2E6-3B30-FC85141EBF7F}"/>
              </a:ext>
            </a:extLst>
          </p:cNvPr>
          <p:cNvSpPr/>
          <p:nvPr/>
        </p:nvSpPr>
        <p:spPr>
          <a:xfrm rot="16200000">
            <a:off x="4481802" y="321130"/>
            <a:ext cx="45719" cy="1009650"/>
          </a:xfrm>
          <a:prstGeom prst="roundRect">
            <a:avLst/>
          </a:prstGeom>
          <a:solidFill>
            <a:srgbClr val="7B5CFF"/>
          </a:solidFill>
          <a:ln>
            <a:solidFill>
              <a:srgbClr val="7B5C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n>
                <a:solidFill>
                  <a:schemeClr val="accent1"/>
                </a:solidFill>
              </a:ln>
              <a:solidFill>
                <a:schemeClr val="accent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647700" y="1463040"/>
            <a:ext cx="4572000" cy="4572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>
            <a:alphaModFix amt="2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11887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چشم‌انداز</a:t>
            </a:r>
            <a:endParaRPr lang="en-US" sz="2800" dirty="0">
              <a:latin typeface="Vazirmatn" pitchFamily="2" charset="-78"/>
              <a:cs typeface="Vazirmatn" pitchFamily="2" charset="-78"/>
            </a:endParaRPr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737360"/>
            <a:ext cx="2194560" cy="54864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097280" y="210312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SIP فقط یک سیستم مدیریت مدرسه نیست.</a:t>
            </a:r>
            <a:endParaRPr lang="en-US" sz="1600" dirty="0">
              <a:latin typeface="Vazirmatn" pitchFamily="2" charset="-78"/>
              <a:cs typeface="Vazirmatn" pitchFamily="2" charset="-78"/>
            </a:endParaRPr>
          </a:p>
          <a:p>
            <a:pPr marL="0" indent="0" algn="r">
              <a:buNone/>
            </a:pPr>
            <a:r>
              <a:rPr lang="en-US" sz="16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یک سامانه تحلیل، پیش‌بینی و تصمیم‌یار آموزشی است که با تمرکز بر حل مسائل واقعی نظام آموزشی طراحی شده تا کیفیت آموزش را بالا ببرد و به همه نقش‌ها کمک کند تصمیم‌های دقیق‌تری بگیرند.</a:t>
            </a:r>
            <a:endParaRPr lang="en-US" sz="16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8" name="Text 3"/>
          <p:cNvSpPr/>
          <p:nvPr/>
        </p:nvSpPr>
        <p:spPr>
          <a:xfrm>
            <a:off x="1097280" y="40233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4D7A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الگوریتم‌محور  ·  داده‌محور  ·  کاربرمحور</a:t>
            </a:r>
            <a:endParaRPr lang="en-US" sz="1400" dirty="0">
              <a:latin typeface="Vazirmatn" pitchFamily="2" charset="-78"/>
              <a:cs typeface="Vazirmatn" pitchFamily="2" charset="-78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 flipV="1">
            <a:off x="-832874" y="-3073154"/>
            <a:ext cx="10809748" cy="10809748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tretch>
            <a:fillRect/>
          </a:stretch>
        </p:blipFill>
        <p:spPr>
          <a:xfrm>
            <a:off x="0" y="171450"/>
            <a:ext cx="9144000" cy="51435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977640" y="914400"/>
            <a:ext cx="1188720" cy="1188720"/>
          </a:xfrm>
          <a:prstGeom prst="ellipse">
            <a:avLst/>
          </a:prstGeom>
          <a:solidFill>
            <a:srgbClr val="1A2436"/>
          </a:solidFill>
          <a:ln/>
        </p:spPr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1097280"/>
            <a:ext cx="822960" cy="82296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8FAFC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School Intelligence Platform</a:t>
            </a:r>
            <a:endParaRPr lang="en-US" sz="26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8" name="Text 3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BD5E1"/>
                </a:solidFill>
                <a:latin typeface="Vazirmatn" pitchFamily="2" charset="-78"/>
                <a:ea typeface="Arial" pitchFamily="34" charset="-122"/>
                <a:cs typeface="Vazirmatn" pitchFamily="2" charset="-78"/>
              </a:rPr>
              <a:t>سامانه هوشمند مدیریت مدارس</a:t>
            </a:r>
            <a:endParaRPr lang="en-US" sz="16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0" name="Text 4"/>
          <p:cNvSpPr/>
          <p:nvPr/>
        </p:nvSpPr>
        <p:spPr>
          <a:xfrm>
            <a:off x="457200" y="3611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>
              <a:latin typeface="Vazirmatn" pitchFamily="2" charset="-78"/>
              <a:cs typeface="Vazirmatn" pitchFamily="2" charset="-78"/>
            </a:endParaRPr>
          </a:p>
        </p:txBody>
      </p:sp>
      <p:sp>
        <p:nvSpPr>
          <p:cNvPr id="11" name="Text 5"/>
          <p:cNvSpPr/>
          <p:nvPr/>
        </p:nvSpPr>
        <p:spPr>
          <a:xfrm>
            <a:off x="457200" y="4617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 dirty="0">
              <a:latin typeface="Vazirmatn" pitchFamily="2" charset="-78"/>
              <a:cs typeface="Vazirmatn" pitchFamily="2" charset="-78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Char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479</Words>
  <Application>Microsoft Office PowerPoint</Application>
  <PresentationFormat>On-screen Show (16:9)</PresentationFormat>
  <Paragraphs>156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Vazirmatn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سامانه هوشمند مدیریت مدارس (SIP)</dc:title>
  <dc:subject>PptxGenJS Presentation</dc:subject>
  <dc:creator>School Intelligence Platform</dc:creator>
  <cp:lastModifiedBy>Shayan</cp:lastModifiedBy>
  <cp:revision>3</cp:revision>
  <dcterms:created xsi:type="dcterms:W3CDTF">2026-08-19T22:25:11Z</dcterms:created>
  <dcterms:modified xsi:type="dcterms:W3CDTF">2026-08-19T23:27:06Z</dcterms:modified>
</cp:coreProperties>
</file>