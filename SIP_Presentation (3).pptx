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B5CFF"/>
    <a:srgbClr val="616161"/>
    <a:srgbClr val="FC155D"/>
    <a:srgbClr val="3B6FE8"/>
    <a:srgbClr val="0B1222"/>
    <a:srgbClr val="121A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2232" y="12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9291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A84F7-39B6-911D-9108-19648E1CA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D492D3-90B3-1C45-4CEA-691AC6345B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1DE411-E250-7FE7-CE87-095DD83868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3197B4-360F-ED8E-CCA3-A1FB73CBB5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0777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0" y="-731521"/>
            <a:ext cx="9103953" cy="9103953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>
            <a:off x="40047" y="53395"/>
            <a:ext cx="9144000" cy="5143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3373120" y="2398014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/>
        </p:spPr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1992" y="2480310"/>
            <a:ext cx="182880" cy="18288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738880" y="242544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4D7A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جشنواره خوارزمی</a:t>
            </a:r>
            <a:endParaRPr lang="en-US" sz="1200" dirty="0">
              <a:latin typeface="Vazirmatn" pitchFamily="2" charset="-78"/>
              <a:cs typeface="Vazirmatn" pitchFamily="2" charset="-78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C9BEE2-0A74-2FB5-CBA6-4F8324D6C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AC1F875C-CC0E-1BE2-E5D8-8FC42B921F6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828800" y="-731520"/>
            <a:ext cx="8229600" cy="82296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69F74DC4-3797-873F-A601-0088E223942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hape 1">
            <a:extLst>
              <a:ext uri="{FF2B5EF4-FFF2-40B4-BE49-F238E27FC236}">
                <a16:creationId xmlns:a16="http://schemas.microsoft.com/office/drawing/2014/main" id="{DD653B3D-6C4A-0DFE-8750-A158774C7CEB}"/>
              </a:ext>
            </a:extLst>
          </p:cNvPr>
          <p:cNvSpPr/>
          <p:nvPr/>
        </p:nvSpPr>
        <p:spPr>
          <a:xfrm>
            <a:off x="502920" y="1051560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/>
        </p:spPr>
      </p:sp>
      <p:pic>
        <p:nvPicPr>
          <p:cNvPr id="6" name="Image 2" descr="preencoded.png">
            <a:extLst>
              <a:ext uri="{FF2B5EF4-FFF2-40B4-BE49-F238E27FC236}">
                <a16:creationId xmlns:a16="http://schemas.microsoft.com/office/drawing/2014/main" id="{35BC9FB4-3256-6DB1-9F89-B0BEA5B255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1133856"/>
            <a:ext cx="182880" cy="182880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41C6714C-0F9C-9F8E-3A8A-EB6AD435A720}"/>
              </a:ext>
            </a:extLst>
          </p:cNvPr>
          <p:cNvSpPr/>
          <p:nvPr/>
        </p:nvSpPr>
        <p:spPr>
          <a:xfrm>
            <a:off x="868680" y="107899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4D7A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جشنواره خوارزمی</a:t>
            </a:r>
            <a:endParaRPr lang="en-US" sz="12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70901751-66B7-443B-255E-D46C1B2D2C86}"/>
              </a:ext>
            </a:extLst>
          </p:cNvPr>
          <p:cNvSpPr/>
          <p:nvPr/>
        </p:nvSpPr>
        <p:spPr>
          <a:xfrm>
            <a:off x="2331720" y="1078992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F8FAFC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سامانه هوشمند</a:t>
            </a:r>
            <a:endParaRPr lang="en-US" sz="3600" dirty="0">
              <a:latin typeface="Vazirmatn" pitchFamily="2" charset="-78"/>
              <a:cs typeface="Vazirmatn" pitchFamily="2" charset="-78"/>
            </a:endParaRPr>
          </a:p>
          <a:p>
            <a:pPr marL="0" indent="0" algn="r">
              <a:buNone/>
            </a:pPr>
            <a:r>
              <a:rPr lang="en-US" sz="3600" b="1" dirty="0">
                <a:solidFill>
                  <a:srgbClr val="F8FAFC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مدیریت مدارس</a:t>
            </a:r>
            <a:endParaRPr lang="en-US" sz="36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0FA67D7D-A7C9-FBEA-3A8E-C2D35D043A9E}"/>
              </a:ext>
            </a:extLst>
          </p:cNvPr>
          <p:cNvSpPr/>
          <p:nvPr/>
        </p:nvSpPr>
        <p:spPr>
          <a:xfrm>
            <a:off x="2331720" y="254203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4C7CF0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School Intelligence Platform  ·  SIP</a:t>
            </a:r>
            <a:endParaRPr lang="en-US" sz="1600" dirty="0">
              <a:latin typeface="Vazirmatn" pitchFamily="2" charset="-78"/>
              <a:cs typeface="Vazirmatn" pitchFamily="2" charset="-78"/>
            </a:endParaRPr>
          </a:p>
        </p:txBody>
      </p:sp>
      <p:pic>
        <p:nvPicPr>
          <p:cNvPr id="10" name="Image 3" descr="preencoded.png">
            <a:extLst>
              <a:ext uri="{FF2B5EF4-FFF2-40B4-BE49-F238E27FC236}">
                <a16:creationId xmlns:a16="http://schemas.microsoft.com/office/drawing/2014/main" id="{66A1F90C-1838-FA34-6C19-3C5A0134AC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0" y="2999232"/>
            <a:ext cx="2194560" cy="54864"/>
          </a:xfrm>
          <a:prstGeom prst="rect">
            <a:avLst/>
          </a:prstGeom>
        </p:spPr>
      </p:pic>
      <p:sp>
        <p:nvSpPr>
          <p:cNvPr id="11" name="Text 5">
            <a:extLst>
              <a:ext uri="{FF2B5EF4-FFF2-40B4-BE49-F238E27FC236}">
                <a16:creationId xmlns:a16="http://schemas.microsoft.com/office/drawing/2014/main" id="{B56DB99D-0339-5F7E-D95B-36D13321F978}"/>
              </a:ext>
            </a:extLst>
          </p:cNvPr>
          <p:cNvSpPr/>
          <p:nvPr/>
        </p:nvSpPr>
        <p:spPr>
          <a:xfrm>
            <a:off x="2331720" y="327355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4A3B8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تصمیم‌یار آموزشی مبتنی بر الگوریتم — نه فقط حضور و نمره</a:t>
            </a:r>
            <a:endParaRPr lang="en-US" sz="1400" dirty="0">
              <a:latin typeface="Vazirmatn" pitchFamily="2" charset="-78"/>
              <a:cs typeface="Vazirmatn" pitchFamily="2" charset="-78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18E3FAE1-90F0-48D9-EC81-1B2E8B80DE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0"/>
            <a:ext cx="545847" cy="545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617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-1828800" y="2286000"/>
            <a:ext cx="3657600" cy="365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F8FAFC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معرفی پروژه</a:t>
            </a:r>
            <a:endParaRPr lang="en-US" sz="2400" dirty="0">
              <a:latin typeface="Vazirmatn" pitchFamily="2" charset="-78"/>
              <a:cs typeface="Vazirmatn" pitchFamily="2" charset="-78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685800"/>
            <a:ext cx="1645920" cy="457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89204" y="960120"/>
            <a:ext cx="8243316" cy="1554480"/>
          </a:xfrm>
          <a:prstGeom prst="roundRect">
            <a:avLst>
              <a:gd name="adj" fmla="val 8235"/>
            </a:avLst>
          </a:prstGeom>
          <a:solidFill>
            <a:srgbClr val="121A28"/>
          </a:solidFill>
          <a:ln/>
          <a:effectLst>
            <a:outerShdw blurRad="254000" dist="508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1188720"/>
            <a:ext cx="384048" cy="38404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40080" y="1143000"/>
            <a:ext cx="7223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CBD5E1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 SIP یک سامانه مدیریت مدارس نسل جدید است — نه فقط حضور و نمره.</a:t>
            </a:r>
            <a:endParaRPr lang="en-US" sz="1400" dirty="0">
              <a:latin typeface="Vazirmatn" pitchFamily="2" charset="-78"/>
              <a:cs typeface="Vazirmatn" pitchFamily="2" charset="-78"/>
            </a:endParaRPr>
          </a:p>
          <a:p>
            <a:pPr marL="0" indent="0" algn="r" rtl="1">
              <a:buNone/>
            </a:pPr>
            <a:r>
              <a:rPr lang="en-US" sz="1400" dirty="0">
                <a:solidFill>
                  <a:srgbClr val="CBD5E1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با داده‌های آموزشی و الگوریتم‌های هوشمند، مشکلات تحصیلی را زود تشخیص می‌دهد، تحلیل مدیریتی ارائه می‌کند و به همه نقش‌ها راهکار پیشنهاد می‌دهد.</a:t>
            </a:r>
            <a:endParaRPr lang="en-US" sz="14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10" name="Shape 5"/>
          <p:cNvSpPr/>
          <p:nvPr/>
        </p:nvSpPr>
        <p:spPr>
          <a:xfrm>
            <a:off x="411480" y="2788920"/>
            <a:ext cx="2697480" cy="1965960"/>
          </a:xfrm>
          <a:prstGeom prst="roundRect">
            <a:avLst>
              <a:gd name="adj" fmla="val 6512"/>
            </a:avLst>
          </a:prstGeom>
          <a:solidFill>
            <a:srgbClr val="121A28"/>
          </a:solidFill>
          <a:ln/>
          <a:effectLst>
            <a:outerShdw blurRad="254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1417320" y="3017520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1A2436"/>
          </a:solidFill>
          <a:ln/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7048" y="3127248"/>
            <a:ext cx="420624" cy="42062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48640" y="38404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F8FAFC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تشخیص زودهنگام</a:t>
            </a:r>
            <a:endParaRPr lang="en-US" sz="14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14" name="Text 8"/>
          <p:cNvSpPr/>
          <p:nvPr/>
        </p:nvSpPr>
        <p:spPr>
          <a:xfrm>
            <a:off x="548640" y="41605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dirty="0">
                <a:solidFill>
                  <a:srgbClr val="94A3B8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افت تحصیلی قبل از کارنامه</a:t>
            </a:r>
            <a:endParaRPr lang="en-US" sz="12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15" name="Shape 9"/>
          <p:cNvSpPr/>
          <p:nvPr/>
        </p:nvSpPr>
        <p:spPr>
          <a:xfrm>
            <a:off x="3246120" y="2788920"/>
            <a:ext cx="2697480" cy="1965960"/>
          </a:xfrm>
          <a:prstGeom prst="roundRect">
            <a:avLst>
              <a:gd name="adj" fmla="val 6512"/>
            </a:avLst>
          </a:prstGeom>
          <a:solidFill>
            <a:srgbClr val="121A28"/>
          </a:solidFill>
          <a:ln/>
          <a:effectLst>
            <a:outerShdw blurRad="254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4251960" y="3017520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1A2436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61688" y="3127248"/>
            <a:ext cx="420624" cy="42062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383280" y="38404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F8FAFC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تحلیل هوشمند</a:t>
            </a:r>
            <a:endParaRPr lang="en-US" sz="14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19" name="Text 12"/>
          <p:cNvSpPr/>
          <p:nvPr/>
        </p:nvSpPr>
        <p:spPr>
          <a:xfrm>
            <a:off x="3383280" y="41605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dirty="0">
                <a:solidFill>
                  <a:srgbClr val="94A3B8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پیش‌بینی و تصمیم‌یاری</a:t>
            </a:r>
            <a:endParaRPr lang="en-US" sz="12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20" name="Shape 13"/>
          <p:cNvSpPr/>
          <p:nvPr/>
        </p:nvSpPr>
        <p:spPr>
          <a:xfrm>
            <a:off x="6080760" y="2788920"/>
            <a:ext cx="2697480" cy="1965960"/>
          </a:xfrm>
          <a:prstGeom prst="roundRect">
            <a:avLst>
              <a:gd name="adj" fmla="val 6512"/>
            </a:avLst>
          </a:prstGeom>
          <a:solidFill>
            <a:srgbClr val="121A28"/>
          </a:solidFill>
          <a:ln/>
          <a:effectLst>
            <a:outerShdw blurRad="254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7086600" y="3017520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1A2436"/>
          </a:solidFill>
          <a:ln/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96328" y="3127248"/>
            <a:ext cx="420624" cy="42062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217920" y="38404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F8FAFC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پنج نقش کاربری</a:t>
            </a:r>
            <a:endParaRPr lang="en-US" sz="14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6217920" y="41605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dirty="0">
                <a:solidFill>
                  <a:srgbClr val="94A3B8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مدیر تا دانش‌آموز</a:t>
            </a:r>
            <a:endParaRPr lang="en-US" sz="12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39AFD16-62DB-BA3F-DC0A-221844763F30}"/>
              </a:ext>
            </a:extLst>
          </p:cNvPr>
          <p:cNvSpPr/>
          <p:nvPr/>
        </p:nvSpPr>
        <p:spPr>
          <a:xfrm flipH="1">
            <a:off x="8645652" y="997267"/>
            <a:ext cx="59436" cy="1463040"/>
          </a:xfrm>
          <a:prstGeom prst="roundRect">
            <a:avLst>
              <a:gd name="adj" fmla="val 50000"/>
            </a:avLst>
          </a:prstGeom>
          <a:solidFill>
            <a:srgbClr val="FC155D"/>
          </a:solidFill>
          <a:ln>
            <a:solidFill>
              <a:srgbClr val="FC15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endParaRPr lang="en-US">
              <a:latin typeface="Vazirmatn" pitchFamily="2" charset="-78"/>
              <a:cs typeface="Vazirmatn" pitchFamily="2" charset="-78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Image 0" descr="preencoded.png">
            <a:extLst>
              <a:ext uri="{FF2B5EF4-FFF2-40B4-BE49-F238E27FC236}">
                <a16:creationId xmlns:a16="http://schemas.microsoft.com/office/drawing/2014/main" id="{E70A71FA-0CF5-2A81-1403-41752642EB2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5897880" y="-411480"/>
            <a:ext cx="3657600" cy="3657600"/>
          </a:xfrm>
          <a:prstGeom prst="rect">
            <a:avLst/>
          </a:prstGeom>
        </p:spPr>
      </p:pic>
      <p:pic>
        <p:nvPicPr>
          <p:cNvPr id="79" name="Image 0" descr="preencoded.png">
            <a:extLst>
              <a:ext uri="{FF2B5EF4-FFF2-40B4-BE49-F238E27FC236}">
                <a16:creationId xmlns:a16="http://schemas.microsoft.com/office/drawing/2014/main" id="{E273F163-9283-528F-A839-658216E4C42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-1828800" y="2286000"/>
            <a:ext cx="3657600" cy="3657600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F8FAFC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اهداف پروژه</a:t>
            </a:r>
            <a:endParaRPr lang="en-US" sz="2400" dirty="0">
              <a:latin typeface="Vazirmatn" pitchFamily="2" charset="-78"/>
              <a:cs typeface="Vazirmatn" pitchFamily="2" charset="-78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640080"/>
            <a:ext cx="1645920" cy="45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709160" y="914400"/>
            <a:ext cx="4160520" cy="822960"/>
          </a:xfrm>
          <a:prstGeom prst="roundRect">
            <a:avLst>
              <a:gd name="adj" fmla="val 13333"/>
            </a:avLst>
          </a:prstGeom>
          <a:solidFill>
            <a:srgbClr val="121A28"/>
          </a:solidFill>
          <a:ln/>
          <a:effectLst>
            <a:outerShdw blurRad="254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0" y="1097280"/>
            <a:ext cx="502920" cy="457200"/>
          </a:xfrm>
          <a:prstGeom prst="roundRect">
            <a:avLst>
              <a:gd name="adj" fmla="val 20000"/>
            </a:avLst>
          </a:prstGeom>
          <a:solidFill>
            <a:srgbClr val="1A2436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0" y="11430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sz="1300" b="1" dirty="0">
                <a:solidFill>
                  <a:srgbClr val="FC155D"/>
                </a:solidFill>
                <a:latin typeface="Vazirmatn" pitchFamily="2" charset="-78"/>
                <a:cs typeface="Vazirmatn" pitchFamily="2" charset="-78"/>
              </a:rPr>
              <a:t>۱</a:t>
            </a:r>
            <a:endParaRPr lang="en-US" sz="13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8" name="Text 5"/>
          <p:cNvSpPr/>
          <p:nvPr/>
        </p:nvSpPr>
        <p:spPr>
          <a:xfrm>
            <a:off x="4983480" y="1143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CBD5E1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تشخیص زودهنگام افت تحصیلی</a:t>
            </a:r>
            <a:endParaRPr lang="en-US" sz="14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11480" y="914400"/>
            <a:ext cx="4160520" cy="822960"/>
          </a:xfrm>
          <a:prstGeom prst="roundRect">
            <a:avLst>
              <a:gd name="adj" fmla="val 13333"/>
            </a:avLst>
          </a:prstGeom>
          <a:solidFill>
            <a:srgbClr val="121A28"/>
          </a:solidFill>
          <a:ln/>
          <a:effectLst>
            <a:outerShdw blurRad="254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931920" y="1097280"/>
            <a:ext cx="502920" cy="457200"/>
          </a:xfrm>
          <a:prstGeom prst="roundRect">
            <a:avLst>
              <a:gd name="adj" fmla="val 20000"/>
            </a:avLst>
          </a:prstGeom>
          <a:solidFill>
            <a:srgbClr val="1A2436"/>
          </a:solidFill>
          <a:ln/>
        </p:spPr>
      </p:sp>
      <p:sp>
        <p:nvSpPr>
          <p:cNvPr id="11" name="Text 8"/>
          <p:cNvSpPr/>
          <p:nvPr/>
        </p:nvSpPr>
        <p:spPr>
          <a:xfrm>
            <a:off x="3931920" y="11430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sz="1300" b="1" dirty="0">
                <a:solidFill>
                  <a:srgbClr val="4C7CF0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۲</a:t>
            </a:r>
            <a:endParaRPr lang="en-US" sz="13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85800" y="1143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CBD5E1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تحلیل عملکرد دانش‌آموزان</a:t>
            </a:r>
            <a:endParaRPr lang="en-US" sz="14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709160" y="1874520"/>
            <a:ext cx="4160520" cy="822960"/>
          </a:xfrm>
          <a:prstGeom prst="roundRect">
            <a:avLst>
              <a:gd name="adj" fmla="val 13333"/>
            </a:avLst>
          </a:prstGeom>
          <a:solidFill>
            <a:srgbClr val="121A28"/>
          </a:solidFill>
          <a:ln/>
          <a:effectLst>
            <a:outerShdw blurRad="254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229600" y="2057400"/>
            <a:ext cx="502920" cy="457200"/>
          </a:xfrm>
          <a:prstGeom prst="roundRect">
            <a:avLst>
              <a:gd name="adj" fmla="val 20000"/>
            </a:avLst>
          </a:prstGeom>
          <a:solidFill>
            <a:srgbClr val="1A2436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0" y="21031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sz="1300" b="1" dirty="0">
                <a:solidFill>
                  <a:srgbClr val="FC155D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۳</a:t>
            </a:r>
            <a:endParaRPr lang="en-US" sz="13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983480" y="2103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CBD5E1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افزایش ارتباط مدرسه و والدین</a:t>
            </a:r>
            <a:endParaRPr lang="en-US" sz="14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11480" y="1874520"/>
            <a:ext cx="4160520" cy="822960"/>
          </a:xfrm>
          <a:prstGeom prst="roundRect">
            <a:avLst>
              <a:gd name="adj" fmla="val 13333"/>
            </a:avLst>
          </a:prstGeom>
          <a:solidFill>
            <a:srgbClr val="121A28"/>
          </a:solidFill>
          <a:ln/>
          <a:effectLst>
            <a:outerShdw blurRad="254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931920" y="2057400"/>
            <a:ext cx="502920" cy="457200"/>
          </a:xfrm>
          <a:prstGeom prst="roundRect">
            <a:avLst>
              <a:gd name="adj" fmla="val 20000"/>
            </a:avLst>
          </a:prstGeom>
          <a:solidFill>
            <a:srgbClr val="1A2436"/>
          </a:solidFill>
          <a:ln/>
        </p:spPr>
      </p:sp>
      <p:sp>
        <p:nvSpPr>
          <p:cNvPr id="19" name="Text 16"/>
          <p:cNvSpPr/>
          <p:nvPr/>
        </p:nvSpPr>
        <p:spPr>
          <a:xfrm>
            <a:off x="3931920" y="21031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sz="1300" b="1" dirty="0">
                <a:solidFill>
                  <a:srgbClr val="4C7CF0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۴</a:t>
            </a:r>
            <a:endParaRPr lang="en-US" sz="13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85800" y="2103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CBD5E1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کاهش فشار کاری مشاوران</a:t>
            </a:r>
            <a:endParaRPr lang="en-US" sz="14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4709160" y="2834640"/>
            <a:ext cx="4160520" cy="822960"/>
          </a:xfrm>
          <a:prstGeom prst="roundRect">
            <a:avLst>
              <a:gd name="adj" fmla="val 13333"/>
            </a:avLst>
          </a:prstGeom>
          <a:solidFill>
            <a:srgbClr val="121A28"/>
          </a:solidFill>
          <a:ln/>
          <a:effectLst>
            <a:outerShdw blurRad="254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229600" y="3017520"/>
            <a:ext cx="502920" cy="457200"/>
          </a:xfrm>
          <a:prstGeom prst="roundRect">
            <a:avLst>
              <a:gd name="adj" fmla="val 20000"/>
            </a:avLst>
          </a:prstGeom>
          <a:solidFill>
            <a:srgbClr val="1A2436"/>
          </a:solidFill>
          <a:ln/>
        </p:spPr>
      </p:sp>
      <p:sp>
        <p:nvSpPr>
          <p:cNvPr id="23" name="Text 20"/>
          <p:cNvSpPr/>
          <p:nvPr/>
        </p:nvSpPr>
        <p:spPr>
          <a:xfrm>
            <a:off x="8229600" y="30632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sz="1300" b="1" dirty="0">
                <a:solidFill>
                  <a:srgbClr val="FC155D"/>
                </a:solidFill>
                <a:latin typeface="Vazirmatn" pitchFamily="2" charset="-78"/>
                <a:cs typeface="Vazirmatn" pitchFamily="2" charset="-78"/>
              </a:rPr>
              <a:t>۵</a:t>
            </a:r>
            <a:endParaRPr lang="en-US" sz="13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498348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CBD5E1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آمار مدیریتی دقیق</a:t>
            </a:r>
            <a:endParaRPr lang="en-US" sz="14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411480" y="2834640"/>
            <a:ext cx="4160520" cy="822960"/>
          </a:xfrm>
          <a:prstGeom prst="roundRect">
            <a:avLst>
              <a:gd name="adj" fmla="val 13333"/>
            </a:avLst>
          </a:prstGeom>
          <a:solidFill>
            <a:srgbClr val="121A28"/>
          </a:solidFill>
          <a:ln/>
          <a:effectLst>
            <a:outerShdw blurRad="254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931920" y="3017520"/>
            <a:ext cx="502920" cy="457200"/>
          </a:xfrm>
          <a:prstGeom prst="roundRect">
            <a:avLst>
              <a:gd name="adj" fmla="val 20000"/>
            </a:avLst>
          </a:prstGeom>
          <a:solidFill>
            <a:srgbClr val="1A2436"/>
          </a:solidFill>
          <a:ln/>
        </p:spPr>
      </p:sp>
      <p:sp>
        <p:nvSpPr>
          <p:cNvPr id="27" name="Text 24"/>
          <p:cNvSpPr/>
          <p:nvPr/>
        </p:nvSpPr>
        <p:spPr>
          <a:xfrm>
            <a:off x="3931920" y="30632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sz="1300" b="1" dirty="0">
                <a:solidFill>
                  <a:srgbClr val="4C7CF0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۶</a:t>
            </a:r>
            <a:endParaRPr lang="en-US" sz="13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68580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CBD5E1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شناسایی دانش‌آموزان پرخطر</a:t>
            </a:r>
            <a:endParaRPr lang="en-US" sz="14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4709160" y="3794760"/>
            <a:ext cx="4160520" cy="822960"/>
          </a:xfrm>
          <a:prstGeom prst="roundRect">
            <a:avLst>
              <a:gd name="adj" fmla="val 13333"/>
            </a:avLst>
          </a:prstGeom>
          <a:solidFill>
            <a:srgbClr val="121A28"/>
          </a:solidFill>
          <a:ln/>
          <a:effectLst>
            <a:outerShdw blurRad="254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8229600" y="3977640"/>
            <a:ext cx="502920" cy="457200"/>
          </a:xfrm>
          <a:prstGeom prst="roundRect">
            <a:avLst>
              <a:gd name="adj" fmla="val 20000"/>
            </a:avLst>
          </a:prstGeom>
          <a:solidFill>
            <a:srgbClr val="1A2436"/>
          </a:solidFill>
          <a:ln/>
        </p:spPr>
      </p:sp>
      <p:sp>
        <p:nvSpPr>
          <p:cNvPr id="31" name="Text 28"/>
          <p:cNvSpPr/>
          <p:nvPr/>
        </p:nvSpPr>
        <p:spPr>
          <a:xfrm>
            <a:off x="8229600" y="40233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sz="1300" b="1" dirty="0">
                <a:solidFill>
                  <a:srgbClr val="FC155D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۷</a:t>
            </a:r>
            <a:endParaRPr lang="en-US" sz="13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4983480" y="4023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CBD5E1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برنامه مطالعاتی هوشمند</a:t>
            </a:r>
            <a:endParaRPr lang="en-US" sz="14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411480" y="3794760"/>
            <a:ext cx="4160520" cy="822960"/>
          </a:xfrm>
          <a:prstGeom prst="roundRect">
            <a:avLst>
              <a:gd name="adj" fmla="val 13333"/>
            </a:avLst>
          </a:prstGeom>
          <a:solidFill>
            <a:srgbClr val="121A28"/>
          </a:solidFill>
          <a:ln/>
          <a:effectLst>
            <a:outerShdw blurRad="254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3931920" y="3977640"/>
            <a:ext cx="502920" cy="457200"/>
          </a:xfrm>
          <a:prstGeom prst="roundRect">
            <a:avLst>
              <a:gd name="adj" fmla="val 20000"/>
            </a:avLst>
          </a:prstGeom>
          <a:solidFill>
            <a:srgbClr val="1A2436"/>
          </a:solidFill>
          <a:ln/>
        </p:spPr>
      </p:sp>
      <p:sp>
        <p:nvSpPr>
          <p:cNvPr id="35" name="Text 32"/>
          <p:cNvSpPr/>
          <p:nvPr/>
        </p:nvSpPr>
        <p:spPr>
          <a:xfrm>
            <a:off x="3931920" y="40233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sz="1300" b="1" dirty="0">
                <a:solidFill>
                  <a:srgbClr val="4C7CF0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۸</a:t>
            </a:r>
            <a:endParaRPr lang="en-US" sz="13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685800" y="4023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CBD5E1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تصمیم‌گیری مبتنی بر داده</a:t>
            </a:r>
            <a:endParaRPr lang="en-US" sz="1400" dirty="0">
              <a:latin typeface="Vazirmatn" pitchFamily="2" charset="-78"/>
              <a:cs typeface="Vazirmatn" pitchFamily="2" charset="-78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Image 0" descr="preencoded.png">
            <a:extLst>
              <a:ext uri="{FF2B5EF4-FFF2-40B4-BE49-F238E27FC236}">
                <a16:creationId xmlns:a16="http://schemas.microsoft.com/office/drawing/2014/main" id="{4C1B47FE-9A08-BAE4-F8C0-047A37AB2A3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-486229" y="-2486479"/>
            <a:ext cx="10116457" cy="10116457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F8FAFC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نقش‌های سیستم</a:t>
            </a:r>
            <a:endParaRPr lang="en-US" sz="2400" dirty="0">
              <a:latin typeface="Vazirmatn" pitchFamily="2" charset="-78"/>
              <a:cs typeface="Vazirmatn" pitchFamily="2" charset="-78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548640"/>
            <a:ext cx="1645920" cy="45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56032" y="777240"/>
            <a:ext cx="1691640" cy="4023360"/>
          </a:xfrm>
          <a:prstGeom prst="roundRect">
            <a:avLst>
              <a:gd name="adj" fmla="val 7568"/>
            </a:avLst>
          </a:prstGeom>
          <a:solidFill>
            <a:srgbClr val="121A28"/>
          </a:solidFill>
          <a:ln/>
          <a:effectLst>
            <a:outerShdw blurRad="254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777240"/>
            <a:ext cx="1691640" cy="54864"/>
          </a:xfrm>
          <a:prstGeom prst="rect">
            <a:avLst/>
          </a:prstGeom>
          <a:solidFill>
            <a:srgbClr val="3B6FE8"/>
          </a:solidFill>
          <a:ln/>
        </p:spPr>
      </p:sp>
      <p:sp>
        <p:nvSpPr>
          <p:cNvPr id="7" name="Shape 4"/>
          <p:cNvSpPr/>
          <p:nvPr/>
        </p:nvSpPr>
        <p:spPr>
          <a:xfrm>
            <a:off x="713232" y="1051560"/>
            <a:ext cx="777240" cy="777240"/>
          </a:xfrm>
          <a:prstGeom prst="ellipse">
            <a:avLst/>
          </a:prstGeom>
          <a:solidFill>
            <a:srgbClr val="1A2436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1188720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7472" y="19659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مدیر</a:t>
            </a:r>
            <a:endParaRPr lang="en-US" sz="14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10" name="Text 6"/>
          <p:cNvSpPr/>
          <p:nvPr/>
        </p:nvSpPr>
        <p:spPr>
          <a:xfrm>
            <a:off x="365760" y="24688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آمار و گزارش‌ها</a:t>
            </a:r>
            <a:endParaRPr lang="en-US" sz="11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11" name="Text 7"/>
          <p:cNvSpPr/>
          <p:nvPr/>
        </p:nvSpPr>
        <p:spPr>
          <a:xfrm>
            <a:off x="365760" y="29718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کاربران و کلاس‌ها</a:t>
            </a:r>
            <a:endParaRPr lang="en-US" sz="11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12" name="Text 8"/>
          <p:cNvSpPr/>
          <p:nvPr/>
        </p:nvSpPr>
        <p:spPr>
          <a:xfrm>
            <a:off x="365760" y="3474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دانش‌آموزان پرخطر</a:t>
            </a:r>
            <a:endParaRPr lang="en-US" sz="11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13" name="Text 9"/>
          <p:cNvSpPr/>
          <p:nvPr/>
        </p:nvSpPr>
        <p:spPr>
          <a:xfrm>
            <a:off x="365760" y="39776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سلامت سیستم</a:t>
            </a:r>
            <a:endParaRPr lang="en-US" sz="11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2029968" y="777240"/>
            <a:ext cx="1691640" cy="4023360"/>
          </a:xfrm>
          <a:prstGeom prst="roundRect">
            <a:avLst>
              <a:gd name="adj" fmla="val 7568"/>
            </a:avLst>
          </a:prstGeom>
          <a:solidFill>
            <a:srgbClr val="121A28"/>
          </a:solidFill>
          <a:ln/>
          <a:effectLst>
            <a:outerShdw blurRad="254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029968" y="777240"/>
            <a:ext cx="1691640" cy="54864"/>
          </a:xfrm>
          <a:prstGeom prst="rect">
            <a:avLst/>
          </a:prstGeom>
          <a:solidFill>
            <a:srgbClr val="FC155D"/>
          </a:solidFill>
          <a:ln/>
        </p:spPr>
      </p:sp>
      <p:sp>
        <p:nvSpPr>
          <p:cNvPr id="16" name="Shape 12"/>
          <p:cNvSpPr/>
          <p:nvPr/>
        </p:nvSpPr>
        <p:spPr>
          <a:xfrm>
            <a:off x="2487168" y="1051560"/>
            <a:ext cx="777240" cy="777240"/>
          </a:xfrm>
          <a:prstGeom prst="ellipse">
            <a:avLst/>
          </a:prstGeom>
          <a:solidFill>
            <a:srgbClr val="1A2436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4328" y="118872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121408" y="19659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دبیر</a:t>
            </a:r>
            <a:endParaRPr lang="en-US" sz="14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2139696" y="24688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حضور و غیاب</a:t>
            </a:r>
            <a:endParaRPr lang="en-US" sz="11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2139696" y="29718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نمرات و آزمون</a:t>
            </a:r>
            <a:endParaRPr lang="en-US" sz="11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2139696" y="3474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تکالیف و رفتار</a:t>
            </a:r>
            <a:endParaRPr lang="en-US" sz="11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2139696" y="39776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تحلیل کلاس</a:t>
            </a:r>
            <a:endParaRPr lang="en-US" sz="11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3803904" y="777240"/>
            <a:ext cx="1691640" cy="4023360"/>
          </a:xfrm>
          <a:prstGeom prst="roundRect">
            <a:avLst>
              <a:gd name="adj" fmla="val 7568"/>
            </a:avLst>
          </a:prstGeom>
          <a:solidFill>
            <a:srgbClr val="121A28"/>
          </a:solidFill>
          <a:ln/>
          <a:effectLst>
            <a:outerShdw blurRad="254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803904" y="777240"/>
            <a:ext cx="1691640" cy="54864"/>
          </a:xfrm>
          <a:prstGeom prst="rect">
            <a:avLst/>
          </a:prstGeom>
          <a:solidFill>
            <a:srgbClr val="7B5CFF"/>
          </a:solidFill>
          <a:ln/>
        </p:spPr>
      </p:sp>
      <p:sp>
        <p:nvSpPr>
          <p:cNvPr id="25" name="Shape 20"/>
          <p:cNvSpPr/>
          <p:nvPr/>
        </p:nvSpPr>
        <p:spPr>
          <a:xfrm>
            <a:off x="4261104" y="1051560"/>
            <a:ext cx="777240" cy="777240"/>
          </a:xfrm>
          <a:prstGeom prst="ellipse">
            <a:avLst/>
          </a:prstGeom>
          <a:solidFill>
            <a:srgbClr val="1A2436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98264" y="1188720"/>
            <a:ext cx="502920" cy="5029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3895344" y="19659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مشاور</a:t>
            </a:r>
            <a:endParaRPr lang="en-US" sz="14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28" name="Text 22"/>
          <p:cNvSpPr/>
          <p:nvPr/>
        </p:nvSpPr>
        <p:spPr>
          <a:xfrm>
            <a:off x="3913632" y="24688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پرخطرها</a:t>
            </a:r>
            <a:endParaRPr lang="en-US" sz="11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29" name="Text 23"/>
          <p:cNvSpPr/>
          <p:nvPr/>
        </p:nvSpPr>
        <p:spPr>
          <a:xfrm>
            <a:off x="3913632" y="29718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فرم سلامت روان</a:t>
            </a:r>
            <a:endParaRPr lang="en-US" sz="11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30" name="Text 24"/>
          <p:cNvSpPr/>
          <p:nvPr/>
        </p:nvSpPr>
        <p:spPr>
          <a:xfrm>
            <a:off x="3913632" y="3474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یادداشت مشاوره</a:t>
            </a:r>
            <a:endParaRPr lang="en-US" sz="11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31" name="Text 25"/>
          <p:cNvSpPr/>
          <p:nvPr/>
        </p:nvSpPr>
        <p:spPr>
          <a:xfrm>
            <a:off x="3913632" y="39776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پیشنهاد AI</a:t>
            </a:r>
            <a:endParaRPr lang="en-US" sz="11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32" name="Shape 26"/>
          <p:cNvSpPr/>
          <p:nvPr/>
        </p:nvSpPr>
        <p:spPr>
          <a:xfrm>
            <a:off x="5577840" y="777240"/>
            <a:ext cx="1691640" cy="4023360"/>
          </a:xfrm>
          <a:prstGeom prst="roundRect">
            <a:avLst>
              <a:gd name="adj" fmla="val 7568"/>
            </a:avLst>
          </a:prstGeom>
          <a:solidFill>
            <a:srgbClr val="121A28"/>
          </a:solidFill>
          <a:ln/>
          <a:effectLst>
            <a:outerShdw blurRad="254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5577840" y="777240"/>
            <a:ext cx="16916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4" name="Shape 28"/>
          <p:cNvSpPr/>
          <p:nvPr/>
        </p:nvSpPr>
        <p:spPr>
          <a:xfrm>
            <a:off x="6035040" y="1051560"/>
            <a:ext cx="777240" cy="777240"/>
          </a:xfrm>
          <a:prstGeom prst="ellipse">
            <a:avLst/>
          </a:prstGeom>
          <a:solidFill>
            <a:srgbClr val="1A2436"/>
          </a:solidFill>
          <a:ln/>
        </p:spPr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2200" y="1188720"/>
            <a:ext cx="502920" cy="50292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669280" y="19659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والدین</a:t>
            </a:r>
            <a:endParaRPr lang="en-US" sz="14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37" name="Text 30"/>
          <p:cNvSpPr/>
          <p:nvPr/>
        </p:nvSpPr>
        <p:spPr>
          <a:xfrm>
            <a:off x="5687568" y="24688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پیشرفت فرزند</a:t>
            </a:r>
            <a:endParaRPr lang="en-US" sz="11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38" name="Text 31"/>
          <p:cNvSpPr/>
          <p:nvPr/>
        </p:nvSpPr>
        <p:spPr>
          <a:xfrm>
            <a:off x="5687568" y="29718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هشدارها</a:t>
            </a:r>
            <a:endParaRPr lang="en-US" sz="11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39" name="Text 32"/>
          <p:cNvSpPr/>
          <p:nvPr/>
        </p:nvSpPr>
        <p:spPr>
          <a:xfrm>
            <a:off x="5687568" y="3474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گزارش هفتگی</a:t>
            </a:r>
            <a:endParaRPr lang="en-US" sz="11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40" name="Text 33"/>
          <p:cNvSpPr/>
          <p:nvPr/>
        </p:nvSpPr>
        <p:spPr>
          <a:xfrm>
            <a:off x="5687568" y="39776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توصیه مطالعه</a:t>
            </a:r>
            <a:endParaRPr lang="en-US" sz="11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41" name="Shape 34"/>
          <p:cNvSpPr/>
          <p:nvPr/>
        </p:nvSpPr>
        <p:spPr>
          <a:xfrm>
            <a:off x="7351776" y="777240"/>
            <a:ext cx="1691640" cy="4023360"/>
          </a:xfrm>
          <a:prstGeom prst="roundRect">
            <a:avLst>
              <a:gd name="adj" fmla="val 7568"/>
            </a:avLst>
          </a:prstGeom>
          <a:solidFill>
            <a:srgbClr val="121A28"/>
          </a:solidFill>
          <a:ln/>
          <a:effectLst>
            <a:outerShdw blurRad="254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2" name="Shape 35"/>
          <p:cNvSpPr/>
          <p:nvPr/>
        </p:nvSpPr>
        <p:spPr>
          <a:xfrm>
            <a:off x="7351776" y="777240"/>
            <a:ext cx="16916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3" name="Shape 36"/>
          <p:cNvSpPr/>
          <p:nvPr/>
        </p:nvSpPr>
        <p:spPr>
          <a:xfrm>
            <a:off x="7808976" y="1051560"/>
            <a:ext cx="777240" cy="777240"/>
          </a:xfrm>
          <a:prstGeom prst="ellipse">
            <a:avLst/>
          </a:prstGeom>
          <a:solidFill>
            <a:srgbClr val="1A2436"/>
          </a:solidFill>
          <a:ln/>
        </p:spPr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46136" y="1188720"/>
            <a:ext cx="502920" cy="502920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7443216" y="19659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دانش‌آموز</a:t>
            </a:r>
            <a:endParaRPr lang="en-US" sz="14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46" name="Text 38"/>
          <p:cNvSpPr/>
          <p:nvPr/>
        </p:nvSpPr>
        <p:spPr>
          <a:xfrm>
            <a:off x="7461504" y="24688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نمرات و پیش‌بینی</a:t>
            </a:r>
            <a:endParaRPr lang="en-US" sz="11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47" name="Text 39"/>
          <p:cNvSpPr/>
          <p:nvPr/>
        </p:nvSpPr>
        <p:spPr>
          <a:xfrm>
            <a:off x="7461504" y="29718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برنامه مطالعاتی</a:t>
            </a:r>
            <a:endParaRPr lang="en-US" sz="11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48" name="Text 40"/>
          <p:cNvSpPr/>
          <p:nvPr/>
        </p:nvSpPr>
        <p:spPr>
          <a:xfrm>
            <a:off x="7461504" y="3474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فرم سلامت</a:t>
            </a:r>
            <a:endParaRPr lang="en-US" sz="11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49" name="Text 41"/>
          <p:cNvSpPr/>
          <p:nvPr/>
        </p:nvSpPr>
        <p:spPr>
          <a:xfrm>
            <a:off x="7461504" y="39776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هدایت تحصیلی</a:t>
            </a:r>
            <a:endParaRPr lang="en-US" sz="1100" dirty="0">
              <a:latin typeface="Vazirmatn" pitchFamily="2" charset="-78"/>
              <a:cs typeface="Vazirmatn" pitchFamily="2" charset="-78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2876406" y="-838072"/>
            <a:ext cx="3579163" cy="32232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F8FAFC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 ۱۰ الگوریتم هوشمند</a:t>
            </a:r>
            <a:endParaRPr lang="en-US" sz="2400" dirty="0">
              <a:latin typeface="Vazirmatn" pitchFamily="2" charset="-78"/>
              <a:cs typeface="Vazirmatn" pitchFamily="2" charset="-78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569" y="531256"/>
            <a:ext cx="2271712" cy="6310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205472" y="777240"/>
            <a:ext cx="1664208" cy="1828800"/>
          </a:xfrm>
          <a:prstGeom prst="roundRect">
            <a:avLst>
              <a:gd name="adj" fmla="val 7692"/>
            </a:avLst>
          </a:prstGeom>
          <a:solidFill>
            <a:srgbClr val="121A28"/>
          </a:solidFill>
          <a:ln/>
          <a:effectLst>
            <a:outerShdw blurRad="254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7296912" y="105156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sz="2000" b="1" dirty="0">
                <a:solidFill>
                  <a:srgbClr val="FC155D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۱</a:t>
            </a:r>
            <a:endParaRPr lang="en-US" sz="20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8" name="Text 4"/>
          <p:cNvSpPr/>
          <p:nvPr/>
        </p:nvSpPr>
        <p:spPr>
          <a:xfrm>
            <a:off x="7296912" y="160020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هشدار زودهنگام</a:t>
            </a:r>
            <a:endParaRPr lang="en-US" sz="13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9" name="Text 5"/>
          <p:cNvSpPr/>
          <p:nvPr/>
        </p:nvSpPr>
        <p:spPr>
          <a:xfrm>
            <a:off x="7296912" y="201168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Risk Score ۰–۱۰۰</a:t>
            </a:r>
            <a:endParaRPr lang="en-US" sz="11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5449824" y="777240"/>
            <a:ext cx="1664208" cy="1828800"/>
          </a:xfrm>
          <a:prstGeom prst="roundRect">
            <a:avLst>
              <a:gd name="adj" fmla="val 7692"/>
            </a:avLst>
          </a:prstGeom>
          <a:solidFill>
            <a:srgbClr val="121A28"/>
          </a:solidFill>
          <a:ln/>
          <a:effectLst>
            <a:outerShdw blurRad="254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5541264" y="105156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sz="2000" b="1" dirty="0">
                <a:solidFill>
                  <a:srgbClr val="FC155D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۲</a:t>
            </a:r>
            <a:endParaRPr lang="en-US" sz="20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12" name="Text 8"/>
          <p:cNvSpPr/>
          <p:nvPr/>
        </p:nvSpPr>
        <p:spPr>
          <a:xfrm>
            <a:off x="5541264" y="160020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سلامت روان</a:t>
            </a:r>
            <a:endParaRPr lang="en-US" sz="13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13" name="Text 9"/>
          <p:cNvSpPr/>
          <p:nvPr/>
        </p:nvSpPr>
        <p:spPr>
          <a:xfrm>
            <a:off x="5541264" y="201168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فرم هفتگی</a:t>
            </a:r>
            <a:endParaRPr lang="en-US" sz="11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3694176" y="777240"/>
            <a:ext cx="1664208" cy="1828800"/>
          </a:xfrm>
          <a:prstGeom prst="roundRect">
            <a:avLst>
              <a:gd name="adj" fmla="val 7692"/>
            </a:avLst>
          </a:prstGeom>
          <a:solidFill>
            <a:srgbClr val="121A28"/>
          </a:solidFill>
          <a:ln/>
          <a:effectLst>
            <a:outerShdw blurRad="254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3785616" y="105156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sz="2000" b="1" dirty="0">
                <a:solidFill>
                  <a:srgbClr val="FC155D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۳</a:t>
            </a:r>
            <a:endParaRPr lang="en-US" sz="20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3785616" y="160020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تحلیل دبیر</a:t>
            </a:r>
            <a:endParaRPr lang="en-US" sz="13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3785616" y="201168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کارایی کلاس</a:t>
            </a:r>
            <a:endParaRPr lang="en-US" sz="11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1938528" y="777240"/>
            <a:ext cx="1664208" cy="1828800"/>
          </a:xfrm>
          <a:prstGeom prst="roundRect">
            <a:avLst>
              <a:gd name="adj" fmla="val 7692"/>
            </a:avLst>
          </a:prstGeom>
          <a:solidFill>
            <a:srgbClr val="121A28"/>
          </a:solidFill>
          <a:ln/>
          <a:effectLst>
            <a:outerShdw blurRad="254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2029968" y="105156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sz="2000" b="1" dirty="0">
                <a:solidFill>
                  <a:srgbClr val="FC155D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۴</a:t>
            </a:r>
            <a:endParaRPr lang="en-US" sz="20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2029968" y="160020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تحلیل مدرسه</a:t>
            </a:r>
            <a:endParaRPr lang="en-US" sz="13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2029968" y="201168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داشبورد مدیریت</a:t>
            </a:r>
            <a:endParaRPr lang="en-US" sz="11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182880" y="777240"/>
            <a:ext cx="1664208" cy="1828800"/>
          </a:xfrm>
          <a:prstGeom prst="roundRect">
            <a:avLst>
              <a:gd name="adj" fmla="val 7692"/>
            </a:avLst>
          </a:prstGeom>
          <a:solidFill>
            <a:srgbClr val="121A28"/>
          </a:solidFill>
          <a:ln/>
          <a:effectLst>
            <a:outerShdw blurRad="254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274320" y="105156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sz="2000" b="1" dirty="0">
                <a:solidFill>
                  <a:srgbClr val="FC155D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۵</a:t>
            </a:r>
            <a:endParaRPr lang="en-US" sz="20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274320" y="160020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هدایت تحصیلی</a:t>
            </a:r>
            <a:endParaRPr lang="en-US" sz="13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274320" y="201168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پیشنهاد رشته</a:t>
            </a:r>
            <a:endParaRPr lang="en-US" sz="11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26" name="Shape 22"/>
          <p:cNvSpPr/>
          <p:nvPr/>
        </p:nvSpPr>
        <p:spPr>
          <a:xfrm>
            <a:off x="7205472" y="2788920"/>
            <a:ext cx="1664208" cy="1828800"/>
          </a:xfrm>
          <a:prstGeom prst="roundRect">
            <a:avLst>
              <a:gd name="adj" fmla="val 7692"/>
            </a:avLst>
          </a:prstGeom>
          <a:solidFill>
            <a:srgbClr val="121A28"/>
          </a:solidFill>
          <a:ln/>
          <a:effectLst>
            <a:outerShdw blurRad="254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Text 23"/>
          <p:cNvSpPr/>
          <p:nvPr/>
        </p:nvSpPr>
        <p:spPr>
          <a:xfrm>
            <a:off x="7296912" y="306324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sz="2000" b="1" dirty="0">
                <a:solidFill>
                  <a:srgbClr val="4C7CF0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۶</a:t>
            </a:r>
            <a:endParaRPr lang="en-US" sz="20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28" name="Text 24"/>
          <p:cNvSpPr/>
          <p:nvPr/>
        </p:nvSpPr>
        <p:spPr>
          <a:xfrm>
            <a:off x="7296912" y="361188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پیش‌بینی نمرات</a:t>
            </a:r>
            <a:endParaRPr lang="en-US" sz="13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29" name="Text 25"/>
          <p:cNvSpPr/>
          <p:nvPr/>
        </p:nvSpPr>
        <p:spPr>
          <a:xfrm>
            <a:off x="7296912" y="402336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احتمال قبولی</a:t>
            </a:r>
            <a:endParaRPr lang="en-US" sz="11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30" name="Shape 26"/>
          <p:cNvSpPr/>
          <p:nvPr/>
        </p:nvSpPr>
        <p:spPr>
          <a:xfrm>
            <a:off x="5449824" y="2788920"/>
            <a:ext cx="1664208" cy="1828800"/>
          </a:xfrm>
          <a:prstGeom prst="roundRect">
            <a:avLst>
              <a:gd name="adj" fmla="val 7692"/>
            </a:avLst>
          </a:prstGeom>
          <a:solidFill>
            <a:srgbClr val="121A28"/>
          </a:solidFill>
          <a:ln/>
          <a:effectLst>
            <a:outerShdw blurRad="254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Text 27"/>
          <p:cNvSpPr/>
          <p:nvPr/>
        </p:nvSpPr>
        <p:spPr>
          <a:xfrm>
            <a:off x="5541264" y="306324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sz="2000" b="1" dirty="0">
                <a:solidFill>
                  <a:srgbClr val="4C7CF0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۷</a:t>
            </a:r>
            <a:endParaRPr lang="en-US" sz="20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32" name="Text 28"/>
          <p:cNvSpPr/>
          <p:nvPr/>
        </p:nvSpPr>
        <p:spPr>
          <a:xfrm>
            <a:off x="5541264" y="361188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تحلیل والدین</a:t>
            </a:r>
            <a:endParaRPr lang="en-US" sz="13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33" name="Text 29"/>
          <p:cNvSpPr/>
          <p:nvPr/>
        </p:nvSpPr>
        <p:spPr>
          <a:xfrm>
            <a:off x="5541264" y="402336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توصیه شخصی</a:t>
            </a:r>
            <a:endParaRPr lang="en-US" sz="11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34" name="Shape 30"/>
          <p:cNvSpPr/>
          <p:nvPr/>
        </p:nvSpPr>
        <p:spPr>
          <a:xfrm>
            <a:off x="3694176" y="2788920"/>
            <a:ext cx="1664208" cy="1828800"/>
          </a:xfrm>
          <a:prstGeom prst="roundRect">
            <a:avLst>
              <a:gd name="adj" fmla="val 7692"/>
            </a:avLst>
          </a:prstGeom>
          <a:solidFill>
            <a:srgbClr val="121A28"/>
          </a:solidFill>
          <a:ln/>
          <a:effectLst>
            <a:outerShdw blurRad="254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5" name="Text 31"/>
          <p:cNvSpPr/>
          <p:nvPr/>
        </p:nvSpPr>
        <p:spPr>
          <a:xfrm>
            <a:off x="3785616" y="306324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sz="2000" b="1" dirty="0">
                <a:solidFill>
                  <a:srgbClr val="4C7CF0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۸</a:t>
            </a:r>
            <a:endParaRPr lang="en-US" sz="20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36" name="Text 32"/>
          <p:cNvSpPr/>
          <p:nvPr/>
        </p:nvSpPr>
        <p:spPr>
          <a:xfrm>
            <a:off x="3785616" y="361188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تشخیص تقلب</a:t>
            </a:r>
            <a:endParaRPr lang="en-US" sz="13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37" name="Text 33"/>
          <p:cNvSpPr/>
          <p:nvPr/>
        </p:nvSpPr>
        <p:spPr>
          <a:xfrm>
            <a:off x="3785616" y="402336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الگوی مشکوک</a:t>
            </a:r>
            <a:endParaRPr lang="en-US" sz="11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38" name="Shape 34"/>
          <p:cNvSpPr/>
          <p:nvPr/>
        </p:nvSpPr>
        <p:spPr>
          <a:xfrm>
            <a:off x="1938528" y="2788920"/>
            <a:ext cx="1664208" cy="1828800"/>
          </a:xfrm>
          <a:prstGeom prst="roundRect">
            <a:avLst>
              <a:gd name="adj" fmla="val 7692"/>
            </a:avLst>
          </a:prstGeom>
          <a:solidFill>
            <a:srgbClr val="121A28"/>
          </a:solidFill>
          <a:ln/>
          <a:effectLst>
            <a:outerShdw blurRad="254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9" name="Text 35"/>
          <p:cNvSpPr/>
          <p:nvPr/>
        </p:nvSpPr>
        <p:spPr>
          <a:xfrm>
            <a:off x="2029968" y="306324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sz="2000" b="1" dirty="0">
                <a:solidFill>
                  <a:srgbClr val="4C7CF0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۹</a:t>
            </a:r>
            <a:endParaRPr lang="en-US" sz="20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40" name="Text 36"/>
          <p:cNvSpPr/>
          <p:nvPr/>
        </p:nvSpPr>
        <p:spPr>
          <a:xfrm>
            <a:off x="2029968" y="361188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برنامه مطالعه</a:t>
            </a:r>
            <a:endParaRPr lang="en-US" sz="13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41" name="Text 37"/>
          <p:cNvSpPr/>
          <p:nvPr/>
        </p:nvSpPr>
        <p:spPr>
          <a:xfrm>
            <a:off x="2029968" y="402336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هفتگی شخصی</a:t>
            </a:r>
            <a:endParaRPr lang="en-US" sz="11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42" name="Shape 38"/>
          <p:cNvSpPr/>
          <p:nvPr/>
        </p:nvSpPr>
        <p:spPr>
          <a:xfrm>
            <a:off x="182880" y="2788920"/>
            <a:ext cx="1664208" cy="1828800"/>
          </a:xfrm>
          <a:prstGeom prst="roundRect">
            <a:avLst>
              <a:gd name="adj" fmla="val 7692"/>
            </a:avLst>
          </a:prstGeom>
          <a:solidFill>
            <a:srgbClr val="121A28"/>
          </a:solidFill>
          <a:ln/>
          <a:effectLst>
            <a:outerShdw blurRad="254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3" name="Text 39"/>
          <p:cNvSpPr/>
          <p:nvPr/>
        </p:nvSpPr>
        <p:spPr>
          <a:xfrm>
            <a:off x="274320" y="306324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sz="2000" b="1" dirty="0">
                <a:solidFill>
                  <a:srgbClr val="4C7CF0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۱۰</a:t>
            </a:r>
            <a:endParaRPr lang="en-US" sz="20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44" name="Text 40"/>
          <p:cNvSpPr/>
          <p:nvPr/>
        </p:nvSpPr>
        <p:spPr>
          <a:xfrm>
            <a:off x="274320" y="361188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تحلیل جامع</a:t>
            </a:r>
            <a:endParaRPr lang="en-US" sz="13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45" name="Text 41"/>
          <p:cNvSpPr/>
          <p:nvPr/>
        </p:nvSpPr>
        <p:spPr>
          <a:xfrm>
            <a:off x="274320" y="402336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نمودار عملکرد</a:t>
            </a:r>
            <a:endParaRPr lang="en-US" sz="1100" dirty="0">
              <a:latin typeface="Vazirmatn" pitchFamily="2" charset="-78"/>
              <a:cs typeface="Vazirmatn" pitchFamily="2" charset="-78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Image 0" descr="preencoded.png">
            <a:extLst>
              <a:ext uri="{FF2B5EF4-FFF2-40B4-BE49-F238E27FC236}">
                <a16:creationId xmlns:a16="http://schemas.microsoft.com/office/drawing/2014/main" id="{86EEF403-36DD-53E6-EFEF-2F62EFC7134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-1325880" y="-1051560"/>
            <a:ext cx="3657600" cy="3657600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365760" y="1828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8FAFC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هشدار زودهنگام — Early Warning AI</a:t>
            </a:r>
            <a:endParaRPr lang="en-US" sz="2200" dirty="0">
              <a:latin typeface="Vazirmatn" pitchFamily="2" charset="-78"/>
              <a:cs typeface="Vazirmatn" pitchFamily="2" charset="-78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548640"/>
            <a:ext cx="1645920" cy="45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" y="777240"/>
            <a:ext cx="4114800" cy="4023360"/>
          </a:xfrm>
          <a:prstGeom prst="roundRect">
            <a:avLst>
              <a:gd name="adj" fmla="val 3182"/>
            </a:avLst>
          </a:prstGeom>
          <a:solidFill>
            <a:srgbClr val="121A28"/>
          </a:solidFill>
          <a:ln/>
          <a:effectLst>
            <a:outerShdw blurRad="254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02920" y="9601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C155D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ورودی‌های مدل</a:t>
            </a:r>
            <a:endParaRPr lang="en-US" sz="15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7" name="Text 4"/>
          <p:cNvSpPr/>
          <p:nvPr/>
        </p:nvSpPr>
        <p:spPr>
          <a:xfrm>
            <a:off x="640080" y="1417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BD5E1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نمرات و آزمون‌ها</a:t>
            </a:r>
            <a:endParaRPr lang="en-US" sz="13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383280" y="1463040"/>
            <a:ext cx="777240" cy="292608"/>
          </a:xfrm>
          <a:prstGeom prst="roundRect">
            <a:avLst>
              <a:gd name="adj" fmla="val 25000"/>
            </a:avLst>
          </a:prstGeom>
          <a:solidFill>
            <a:srgbClr val="1A2436"/>
          </a:solidFill>
          <a:ln/>
        </p:spPr>
      </p:sp>
      <p:sp>
        <p:nvSpPr>
          <p:cNvPr id="9" name="Text 6"/>
          <p:cNvSpPr/>
          <p:nvPr/>
        </p:nvSpPr>
        <p:spPr>
          <a:xfrm>
            <a:off x="3383280" y="146304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C7CF0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۲۵٪</a:t>
            </a:r>
            <a:endParaRPr lang="en-US" sz="12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40080" y="18562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BD5E1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حضور و غیاب</a:t>
            </a:r>
            <a:endParaRPr lang="en-US" sz="13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383280" y="1901952"/>
            <a:ext cx="777240" cy="292608"/>
          </a:xfrm>
          <a:prstGeom prst="roundRect">
            <a:avLst>
              <a:gd name="adj" fmla="val 25000"/>
            </a:avLst>
          </a:prstGeom>
          <a:solidFill>
            <a:srgbClr val="1A2436"/>
          </a:solidFill>
          <a:ln/>
        </p:spPr>
      </p:sp>
      <p:sp>
        <p:nvSpPr>
          <p:cNvPr id="12" name="Text 9"/>
          <p:cNvSpPr/>
          <p:nvPr/>
        </p:nvSpPr>
        <p:spPr>
          <a:xfrm>
            <a:off x="3383280" y="190195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C7CF0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۲۰٪</a:t>
            </a:r>
            <a:endParaRPr lang="en-US" sz="12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40080" y="229514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BD5E1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تکالیف</a:t>
            </a:r>
            <a:endParaRPr lang="en-US" sz="13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383280" y="2340864"/>
            <a:ext cx="777240" cy="292608"/>
          </a:xfrm>
          <a:prstGeom prst="roundRect">
            <a:avLst>
              <a:gd name="adj" fmla="val 25000"/>
            </a:avLst>
          </a:prstGeom>
          <a:solidFill>
            <a:srgbClr val="1A2436"/>
          </a:solidFill>
          <a:ln/>
        </p:spPr>
      </p:sp>
      <p:sp>
        <p:nvSpPr>
          <p:cNvPr id="15" name="Text 12"/>
          <p:cNvSpPr/>
          <p:nvPr/>
        </p:nvSpPr>
        <p:spPr>
          <a:xfrm>
            <a:off x="3383280" y="234086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C7CF0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۱۵٪</a:t>
            </a:r>
            <a:endParaRPr lang="en-US" sz="12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40080" y="273405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BD5E1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سلامت روان</a:t>
            </a:r>
            <a:endParaRPr lang="en-US" sz="13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3383280" y="2779776"/>
            <a:ext cx="777240" cy="292608"/>
          </a:xfrm>
          <a:prstGeom prst="roundRect">
            <a:avLst>
              <a:gd name="adj" fmla="val 25000"/>
            </a:avLst>
          </a:prstGeom>
          <a:solidFill>
            <a:srgbClr val="1A2436"/>
          </a:solidFill>
          <a:ln/>
        </p:spPr>
      </p:sp>
      <p:sp>
        <p:nvSpPr>
          <p:cNvPr id="18" name="Text 15"/>
          <p:cNvSpPr/>
          <p:nvPr/>
        </p:nvSpPr>
        <p:spPr>
          <a:xfrm>
            <a:off x="3383280" y="277977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C7CF0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۱۵٪</a:t>
            </a:r>
            <a:endParaRPr lang="en-US" sz="12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40080" y="31729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BD5E1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روند (شیب)</a:t>
            </a:r>
            <a:endParaRPr lang="en-US" sz="13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3383280" y="3218688"/>
            <a:ext cx="777240" cy="292608"/>
          </a:xfrm>
          <a:prstGeom prst="roundRect">
            <a:avLst>
              <a:gd name="adj" fmla="val 25000"/>
            </a:avLst>
          </a:prstGeom>
          <a:solidFill>
            <a:srgbClr val="1A2436"/>
          </a:solidFill>
          <a:ln/>
        </p:spPr>
      </p:sp>
      <p:sp>
        <p:nvSpPr>
          <p:cNvPr id="21" name="Text 18"/>
          <p:cNvSpPr/>
          <p:nvPr/>
        </p:nvSpPr>
        <p:spPr>
          <a:xfrm>
            <a:off x="3383280" y="321868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C7CF0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۱۰٪</a:t>
            </a:r>
            <a:endParaRPr lang="en-US" sz="12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40080" y="3611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BD5E1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رفتار کلاسی</a:t>
            </a:r>
            <a:endParaRPr lang="en-US" sz="13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3383280" y="3657600"/>
            <a:ext cx="777240" cy="292608"/>
          </a:xfrm>
          <a:prstGeom prst="roundRect">
            <a:avLst>
              <a:gd name="adj" fmla="val 25000"/>
            </a:avLst>
          </a:prstGeom>
          <a:solidFill>
            <a:srgbClr val="1A2436"/>
          </a:solidFill>
          <a:ln/>
        </p:spPr>
      </p:sp>
      <p:sp>
        <p:nvSpPr>
          <p:cNvPr id="24" name="Text 21"/>
          <p:cNvSpPr/>
          <p:nvPr/>
        </p:nvSpPr>
        <p:spPr>
          <a:xfrm>
            <a:off x="3383280" y="36576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C7CF0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۱۰٪</a:t>
            </a:r>
            <a:endParaRPr lang="en-US" sz="12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640080" y="40507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BD5E1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تأخیر</a:t>
            </a:r>
            <a:endParaRPr lang="en-US" sz="13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3383280" y="4096512"/>
            <a:ext cx="777240" cy="292608"/>
          </a:xfrm>
          <a:prstGeom prst="roundRect">
            <a:avLst>
              <a:gd name="adj" fmla="val 25000"/>
            </a:avLst>
          </a:prstGeom>
          <a:solidFill>
            <a:srgbClr val="1A2436"/>
          </a:solidFill>
          <a:ln/>
        </p:spPr>
      </p:sp>
      <p:sp>
        <p:nvSpPr>
          <p:cNvPr id="27" name="Text 24"/>
          <p:cNvSpPr/>
          <p:nvPr/>
        </p:nvSpPr>
        <p:spPr>
          <a:xfrm>
            <a:off x="3383280" y="409651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C7CF0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۵٪</a:t>
            </a:r>
            <a:endParaRPr lang="en-US" sz="12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4663440" y="777240"/>
            <a:ext cx="4114800" cy="4023360"/>
          </a:xfrm>
          <a:prstGeom prst="roundRect">
            <a:avLst>
              <a:gd name="adj" fmla="val 3182"/>
            </a:avLst>
          </a:prstGeom>
          <a:solidFill>
            <a:srgbClr val="121A28"/>
          </a:solidFill>
          <a:ln/>
          <a:effectLst>
            <a:outerShdw blurRad="254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Risk Score</a:t>
            </a:r>
            <a:endParaRPr lang="en-US" sz="14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4846320" y="13716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solidFill>
                  <a:srgbClr val="F8FAFC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۱۰۰  — </a:t>
            </a:r>
            <a:r>
              <a:rPr lang="fa-IR" sz="3200" b="1" dirty="0">
                <a:solidFill>
                  <a:srgbClr val="F8FAFC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۰</a:t>
            </a:r>
            <a:endParaRPr lang="en-US" sz="32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5120640" y="2057400"/>
            <a:ext cx="3200400" cy="256032"/>
          </a:xfrm>
          <a:prstGeom prst="roundRect">
            <a:avLst>
              <a:gd name="adj" fmla="val 35714"/>
            </a:avLst>
          </a:prstGeom>
          <a:solidFill>
            <a:srgbClr val="1A2436"/>
          </a:solidFill>
          <a:ln/>
        </p:spPr>
      </p:sp>
      <p:sp>
        <p:nvSpPr>
          <p:cNvPr id="32" name="Shape 29"/>
          <p:cNvSpPr/>
          <p:nvPr/>
        </p:nvSpPr>
        <p:spPr>
          <a:xfrm>
            <a:off x="5120640" y="2057400"/>
            <a:ext cx="2377440" cy="256032"/>
          </a:xfrm>
          <a:prstGeom prst="roundRect">
            <a:avLst>
              <a:gd name="adj" fmla="val 35714"/>
            </a:avLst>
          </a:prstGeom>
          <a:solidFill>
            <a:srgbClr val="FC155D"/>
          </a:solidFill>
          <a:ln/>
        </p:spPr>
      </p:sp>
      <p:sp>
        <p:nvSpPr>
          <p:cNvPr id="33" name="Text 30"/>
          <p:cNvSpPr/>
          <p:nvPr/>
        </p:nvSpPr>
        <p:spPr>
          <a:xfrm>
            <a:off x="4846320" y="2468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4D7A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آستانه بحرانی: ≥ ۷۵</a:t>
            </a:r>
            <a:endParaRPr lang="en-US" sz="13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4846320" y="2971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هشدار خودکار به:</a:t>
            </a:r>
            <a:endParaRPr lang="en-US" sz="13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5212080" y="3383280"/>
            <a:ext cx="3017520" cy="347472"/>
          </a:xfrm>
          <a:prstGeom prst="roundRect">
            <a:avLst>
              <a:gd name="adj" fmla="val 26316"/>
            </a:avLst>
          </a:prstGeom>
          <a:solidFill>
            <a:srgbClr val="1A2436"/>
          </a:solidFill>
          <a:ln/>
        </p:spPr>
      </p:sp>
      <p:sp>
        <p:nvSpPr>
          <p:cNvPr id="36" name="Text 33"/>
          <p:cNvSpPr/>
          <p:nvPr/>
        </p:nvSpPr>
        <p:spPr>
          <a:xfrm>
            <a:off x="5212080" y="33832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مدیر مدرسه</a:t>
            </a:r>
            <a:endParaRPr lang="en-US" sz="13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5212080" y="3794760"/>
            <a:ext cx="3017520" cy="347472"/>
          </a:xfrm>
          <a:prstGeom prst="roundRect">
            <a:avLst>
              <a:gd name="adj" fmla="val 26316"/>
            </a:avLst>
          </a:prstGeom>
          <a:solidFill>
            <a:srgbClr val="1A2436"/>
          </a:solidFill>
          <a:ln/>
        </p:spPr>
      </p:sp>
      <p:sp>
        <p:nvSpPr>
          <p:cNvPr id="38" name="Text 35"/>
          <p:cNvSpPr/>
          <p:nvPr/>
        </p:nvSpPr>
        <p:spPr>
          <a:xfrm>
            <a:off x="5212080" y="37947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مشاور</a:t>
            </a:r>
            <a:endParaRPr lang="en-US" sz="13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5212080" y="4206240"/>
            <a:ext cx="3017520" cy="347472"/>
          </a:xfrm>
          <a:prstGeom prst="roundRect">
            <a:avLst>
              <a:gd name="adj" fmla="val 26316"/>
            </a:avLst>
          </a:prstGeom>
          <a:solidFill>
            <a:srgbClr val="1A2436"/>
          </a:solidFill>
          <a:ln/>
        </p:spPr>
      </p:sp>
      <p:sp>
        <p:nvSpPr>
          <p:cNvPr id="40" name="Text 37"/>
          <p:cNvSpPr/>
          <p:nvPr/>
        </p:nvSpPr>
        <p:spPr>
          <a:xfrm>
            <a:off x="5212080" y="42062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والدین</a:t>
            </a:r>
            <a:endParaRPr lang="en-US" sz="1300" dirty="0">
              <a:latin typeface="Vazirmatn" pitchFamily="2" charset="-78"/>
              <a:cs typeface="Vazirmatn" pitchFamily="2" charset="-78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Image 0" descr="preencoded.png">
            <a:extLst>
              <a:ext uri="{FF2B5EF4-FFF2-40B4-BE49-F238E27FC236}">
                <a16:creationId xmlns:a16="http://schemas.microsoft.com/office/drawing/2014/main" id="{2F0DAB78-8456-E401-97A4-8562604C5EC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 rot="16200000">
            <a:off x="-914400" y="-1399032"/>
            <a:ext cx="3657600" cy="3657600"/>
          </a:xfrm>
          <a:prstGeom prst="rect">
            <a:avLst/>
          </a:prstGeom>
        </p:spPr>
      </p:pic>
      <p:pic>
        <p:nvPicPr>
          <p:cNvPr id="37" name="Image 0" descr="preencoded.png">
            <a:extLst>
              <a:ext uri="{FF2B5EF4-FFF2-40B4-BE49-F238E27FC236}">
                <a16:creationId xmlns:a16="http://schemas.microsoft.com/office/drawing/2014/main" id="{147529C6-584C-0616-996A-512DBCC766C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6949440" y="-1696212"/>
            <a:ext cx="3657600" cy="3657600"/>
          </a:xfrm>
          <a:prstGeom prst="rect">
            <a:avLst/>
          </a:prstGeom>
        </p:spPr>
      </p:pic>
      <p:pic>
        <p:nvPicPr>
          <p:cNvPr id="38" name="Image 0" descr="preencoded.png">
            <a:extLst>
              <a:ext uri="{FF2B5EF4-FFF2-40B4-BE49-F238E27FC236}">
                <a16:creationId xmlns:a16="http://schemas.microsoft.com/office/drawing/2014/main" id="{1D3C6A6B-DED1-5FFB-AFF5-2E3BBB1CE4C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 rot="16200000">
            <a:off x="-914400" y="3131820"/>
            <a:ext cx="3657600" cy="3657600"/>
          </a:xfrm>
          <a:prstGeom prst="rect">
            <a:avLst/>
          </a:prstGeom>
        </p:spPr>
      </p:pic>
      <p:pic>
        <p:nvPicPr>
          <p:cNvPr id="39" name="Image 0" descr="preencoded.png">
            <a:extLst>
              <a:ext uri="{FF2B5EF4-FFF2-40B4-BE49-F238E27FC236}">
                <a16:creationId xmlns:a16="http://schemas.microsoft.com/office/drawing/2014/main" id="{444B79AA-964A-0460-B966-DD4FBB79035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6949440" y="2834640"/>
            <a:ext cx="3657600" cy="3657600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365760" y="1828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8FAFC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الگوریتم‌های کلیدی</a:t>
            </a:r>
            <a:endParaRPr lang="en-US" sz="2200" dirty="0">
              <a:latin typeface="Vazirmatn" pitchFamily="2" charset="-78"/>
              <a:cs typeface="Vazirmatn" pitchFamily="2" charset="-78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548640"/>
            <a:ext cx="1645920" cy="45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" y="777240"/>
            <a:ext cx="4251960" cy="1234440"/>
          </a:xfrm>
          <a:prstGeom prst="roundRect">
            <a:avLst>
              <a:gd name="adj" fmla="val 8889"/>
            </a:avLst>
          </a:prstGeom>
          <a:solidFill>
            <a:srgbClr val="121A28"/>
          </a:solidFill>
          <a:ln/>
          <a:effectLst>
            <a:outerShdw blurRad="254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023360" y="1097280"/>
            <a:ext cx="411480" cy="411480"/>
          </a:xfrm>
          <a:prstGeom prst="roundRect">
            <a:avLst>
              <a:gd name="adj" fmla="val 22222"/>
            </a:avLst>
          </a:prstGeom>
          <a:solidFill>
            <a:srgbClr val="1A2436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7368" y="1161288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960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8FAFC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سلامت روان</a:t>
            </a:r>
            <a:endParaRPr lang="en-US" sz="14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9" name="Text 5"/>
          <p:cNvSpPr/>
          <p:nvPr/>
        </p:nvSpPr>
        <p:spPr>
          <a:xfrm>
            <a:off x="548640" y="13716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فرم ۸ سؤالی هفتگی → استرس، اضطراب، انگیزه و احتمال ترک تحصیل</a:t>
            </a:r>
            <a:endParaRPr lang="en-US" sz="12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4754880" y="777240"/>
            <a:ext cx="4251960" cy="1234440"/>
          </a:xfrm>
          <a:prstGeom prst="roundRect">
            <a:avLst>
              <a:gd name="adj" fmla="val 8889"/>
            </a:avLst>
          </a:prstGeom>
          <a:solidFill>
            <a:srgbClr val="121A28"/>
          </a:solidFill>
          <a:ln/>
          <a:effectLst>
            <a:outerShdw blurRad="254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8458200" y="1097280"/>
            <a:ext cx="411480" cy="411480"/>
          </a:xfrm>
          <a:prstGeom prst="roundRect">
            <a:avLst>
              <a:gd name="adj" fmla="val 22222"/>
            </a:avLst>
          </a:prstGeom>
          <a:solidFill>
            <a:srgbClr val="1A243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2208" y="1161288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983480" y="960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8FAFC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پیش‌بینی نمرات</a:t>
            </a:r>
            <a:endParaRPr lang="en-US" sz="14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14" name="Text 9"/>
          <p:cNvSpPr/>
          <p:nvPr/>
        </p:nvSpPr>
        <p:spPr>
          <a:xfrm>
            <a:off x="4983480" y="13716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رگرسیون خطی + لوجستیک → احتمال قبولی یا افت با درصد اطمینان</a:t>
            </a:r>
            <a:endParaRPr lang="en-US" sz="12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320040" y="2148840"/>
            <a:ext cx="4251960" cy="1234440"/>
          </a:xfrm>
          <a:prstGeom prst="roundRect">
            <a:avLst>
              <a:gd name="adj" fmla="val 8889"/>
            </a:avLst>
          </a:prstGeom>
          <a:solidFill>
            <a:srgbClr val="121A28"/>
          </a:solidFill>
          <a:ln/>
          <a:effectLst>
            <a:outerShdw blurRad="254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023360" y="2468880"/>
            <a:ext cx="411480" cy="411480"/>
          </a:xfrm>
          <a:prstGeom prst="roundRect">
            <a:avLst>
              <a:gd name="adj" fmla="val 22222"/>
            </a:avLst>
          </a:prstGeom>
          <a:solidFill>
            <a:srgbClr val="1A2436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87368" y="2532888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8640" y="2331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8FAFC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برنامه مطالعاتی</a:t>
            </a:r>
            <a:endParaRPr lang="en-US" sz="14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548640" y="27432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تولید خودکار هفتگی بر اساس ضعف و اهمیت دروس با به‌روزرسانی پویا</a:t>
            </a:r>
            <a:endParaRPr lang="en-US" sz="12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20" name="Shape 14"/>
          <p:cNvSpPr/>
          <p:nvPr/>
        </p:nvSpPr>
        <p:spPr>
          <a:xfrm>
            <a:off x="4754880" y="2148840"/>
            <a:ext cx="4251960" cy="1234440"/>
          </a:xfrm>
          <a:prstGeom prst="roundRect">
            <a:avLst>
              <a:gd name="adj" fmla="val 8889"/>
            </a:avLst>
          </a:prstGeom>
          <a:solidFill>
            <a:srgbClr val="121A28"/>
          </a:solidFill>
          <a:ln/>
          <a:effectLst>
            <a:outerShdw blurRad="254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8458200" y="2468880"/>
            <a:ext cx="411480" cy="411480"/>
          </a:xfrm>
          <a:prstGeom prst="roundRect">
            <a:avLst>
              <a:gd name="adj" fmla="val 22222"/>
            </a:avLst>
          </a:prstGeom>
          <a:solidFill>
            <a:srgbClr val="1A2436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22208" y="2532888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983480" y="2331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8FAFC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تشخیص تقلب</a:t>
            </a:r>
            <a:endParaRPr lang="en-US" sz="14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24" name="Text 17"/>
          <p:cNvSpPr/>
          <p:nvPr/>
        </p:nvSpPr>
        <p:spPr>
          <a:xfrm>
            <a:off x="4983480" y="27432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همبستگی پاسخ‌ها و پرش هم‌زمان نمرات → پرچم‌گذاری مشکوک</a:t>
            </a:r>
            <a:endParaRPr lang="en-US" sz="12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25" name="Shape 18"/>
          <p:cNvSpPr/>
          <p:nvPr/>
        </p:nvSpPr>
        <p:spPr>
          <a:xfrm>
            <a:off x="320040" y="3520440"/>
            <a:ext cx="4251960" cy="1234440"/>
          </a:xfrm>
          <a:prstGeom prst="roundRect">
            <a:avLst>
              <a:gd name="adj" fmla="val 8889"/>
            </a:avLst>
          </a:prstGeom>
          <a:solidFill>
            <a:srgbClr val="121A28"/>
          </a:solidFill>
          <a:ln/>
          <a:effectLst>
            <a:outerShdw blurRad="254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023360" y="3840480"/>
            <a:ext cx="411480" cy="411480"/>
          </a:xfrm>
          <a:prstGeom prst="roundRect">
            <a:avLst>
              <a:gd name="adj" fmla="val 22222"/>
            </a:avLst>
          </a:prstGeom>
          <a:solidFill>
            <a:srgbClr val="1A2436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87368" y="3904488"/>
            <a:ext cx="292608" cy="29260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48640" y="3703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8FAFC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هدایت تحصیلی</a:t>
            </a:r>
            <a:endParaRPr lang="en-US" sz="14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29" name="Text 21"/>
          <p:cNvSpPr/>
          <p:nvPr/>
        </p:nvSpPr>
        <p:spPr>
          <a:xfrm>
            <a:off x="548640" y="41148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تطبیق علایق، نمرات و مهارت‌ها با خانواده‌های رشته</a:t>
            </a:r>
            <a:endParaRPr lang="en-US" sz="12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30" name="Shape 22"/>
          <p:cNvSpPr/>
          <p:nvPr/>
        </p:nvSpPr>
        <p:spPr>
          <a:xfrm>
            <a:off x="4754880" y="3520440"/>
            <a:ext cx="4251960" cy="1234440"/>
          </a:xfrm>
          <a:prstGeom prst="roundRect">
            <a:avLst>
              <a:gd name="adj" fmla="val 8889"/>
            </a:avLst>
          </a:prstGeom>
          <a:solidFill>
            <a:srgbClr val="121A28"/>
          </a:solidFill>
          <a:ln/>
          <a:effectLst>
            <a:outerShdw blurRad="254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8458200" y="3840480"/>
            <a:ext cx="411480" cy="411480"/>
          </a:xfrm>
          <a:prstGeom prst="roundRect">
            <a:avLst>
              <a:gd name="adj" fmla="val 22222"/>
            </a:avLst>
          </a:prstGeom>
          <a:solidFill>
            <a:srgbClr val="1A2436"/>
          </a:solidFill>
          <a:ln/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22208" y="3904488"/>
            <a:ext cx="292608" cy="292608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4983480" y="3703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8FAFC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تحلیل دبیر و مدرسه</a:t>
            </a:r>
            <a:endParaRPr lang="en-US" sz="14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34" name="Text 25"/>
          <p:cNvSpPr/>
          <p:nvPr/>
        </p:nvSpPr>
        <p:spPr>
          <a:xfrm>
            <a:off x="4983480" y="41148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شاخص کارایی، کلاس‌های بحرانی و روند رشد</a:t>
            </a:r>
            <a:endParaRPr lang="en-US" sz="1200" dirty="0">
              <a:latin typeface="Vazirmatn" pitchFamily="2" charset="-78"/>
              <a:cs typeface="Vazirmatn" pitchFamily="2" charset="-78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Image 0" descr="preencoded.png">
            <a:extLst>
              <a:ext uri="{FF2B5EF4-FFF2-40B4-BE49-F238E27FC236}">
                <a16:creationId xmlns:a16="http://schemas.microsoft.com/office/drawing/2014/main" id="{FB48DFB3-2688-4E6E-E1B6-1BD60F02699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2000250" y="2230120"/>
            <a:ext cx="5143500" cy="5143500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365760" y="1828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8FAFC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فناوری و پایگاه داده</a:t>
            </a:r>
            <a:endParaRPr lang="en-US" sz="2200" dirty="0">
              <a:latin typeface="Vazirmatn" pitchFamily="2" charset="-78"/>
              <a:cs typeface="Vazirmatn" pitchFamily="2" charset="-78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548640"/>
            <a:ext cx="1645920" cy="45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532120" y="777240"/>
            <a:ext cx="3192018" cy="777240"/>
          </a:xfrm>
          <a:prstGeom prst="roundRect">
            <a:avLst>
              <a:gd name="adj" fmla="val 14118"/>
            </a:avLst>
          </a:prstGeom>
          <a:solidFill>
            <a:srgbClr val="121A28"/>
          </a:solidFill>
          <a:ln/>
          <a:effectLst>
            <a:outerShdw blurRad="254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766560" y="839289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B6FE8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Frontend</a:t>
            </a:r>
            <a:endParaRPr lang="en-US" sz="13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8" name="Text 5"/>
          <p:cNvSpPr/>
          <p:nvPr/>
        </p:nvSpPr>
        <p:spPr>
          <a:xfrm>
            <a:off x="5440680" y="1188720"/>
            <a:ext cx="3063240" cy="153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BD5E1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React  ·  </a:t>
            </a:r>
            <a:r>
              <a:rPr lang="en-US" sz="1300" dirty="0" err="1">
                <a:solidFill>
                  <a:srgbClr val="CBD5E1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TailwindCSS</a:t>
            </a:r>
            <a:r>
              <a:rPr lang="en-US" sz="1300" dirty="0">
                <a:solidFill>
                  <a:srgbClr val="CBD5E1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 </a:t>
            </a:r>
            <a:endParaRPr lang="en-US" sz="13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12039" y="778056"/>
            <a:ext cx="3192018" cy="777240"/>
          </a:xfrm>
          <a:prstGeom prst="roundRect">
            <a:avLst>
              <a:gd name="adj" fmla="val 14118"/>
            </a:avLst>
          </a:prstGeom>
          <a:solidFill>
            <a:srgbClr val="121A28"/>
          </a:solidFill>
          <a:ln/>
          <a:effectLst>
            <a:outerShdw blurRad="254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546479" y="840105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C155D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Backend</a:t>
            </a:r>
            <a:endParaRPr lang="en-US" sz="13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12" name="Text 9"/>
          <p:cNvSpPr/>
          <p:nvPr/>
        </p:nvSpPr>
        <p:spPr>
          <a:xfrm>
            <a:off x="220599" y="1189536"/>
            <a:ext cx="3063240" cy="153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00" dirty="0">
                <a:solidFill>
                  <a:srgbClr val="CBD5E1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Node.js · Vite ·  Express  ·  TypeScript  </a:t>
            </a:r>
            <a:endParaRPr lang="en-US" sz="13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13" name="Shape 10"/>
          <p:cNvSpPr/>
          <p:nvPr/>
        </p:nvSpPr>
        <p:spPr>
          <a:xfrm rot="16200000">
            <a:off x="3955632" y="830509"/>
            <a:ext cx="1098055" cy="1009650"/>
          </a:xfrm>
          <a:prstGeom prst="roundRect">
            <a:avLst>
              <a:gd name="adj" fmla="val 14118"/>
            </a:avLst>
          </a:prstGeom>
          <a:solidFill>
            <a:srgbClr val="121A28"/>
          </a:solidFill>
          <a:ln/>
          <a:effectLst>
            <a:outerShdw blurRad="254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079137" y="909159"/>
            <a:ext cx="7635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5CFF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Database</a:t>
            </a:r>
            <a:endParaRPr lang="en-US" sz="13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269783" y="1258590"/>
            <a:ext cx="481478" cy="153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Vazirmatn" pitchFamily="2" charset="-78"/>
                <a:cs typeface="Vazirmatn" pitchFamily="2" charset="-78"/>
              </a:rPr>
              <a:t>Json</a:t>
            </a:r>
            <a:endParaRPr lang="en-US" sz="13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2087517" y="2259952"/>
            <a:ext cx="1645920" cy="365760"/>
          </a:xfrm>
          <a:prstGeom prst="roundRect">
            <a:avLst>
              <a:gd name="adj" fmla="val 20000"/>
            </a:avLst>
          </a:prstGeom>
          <a:solidFill>
            <a:srgbClr val="1A2436"/>
          </a:solidFill>
          <a:ln/>
        </p:spPr>
      </p:sp>
      <p:sp>
        <p:nvSpPr>
          <p:cNvPr id="19" name="Text 16"/>
          <p:cNvSpPr/>
          <p:nvPr/>
        </p:nvSpPr>
        <p:spPr>
          <a:xfrm>
            <a:off x="2087517" y="2278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admin.json</a:t>
            </a:r>
            <a:endParaRPr lang="en-US" sz="11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3788301" y="2261992"/>
            <a:ext cx="1645920" cy="365760"/>
          </a:xfrm>
          <a:prstGeom prst="roundRect">
            <a:avLst>
              <a:gd name="adj" fmla="val 20000"/>
            </a:avLst>
          </a:prstGeom>
          <a:solidFill>
            <a:srgbClr val="1A2436"/>
          </a:solidFill>
          <a:ln/>
        </p:spPr>
      </p:sp>
      <p:sp>
        <p:nvSpPr>
          <p:cNvPr id="21" name="Text 18"/>
          <p:cNvSpPr/>
          <p:nvPr/>
        </p:nvSpPr>
        <p:spPr>
          <a:xfrm>
            <a:off x="3788301" y="2280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teachers.json</a:t>
            </a:r>
            <a:endParaRPr lang="en-US" sz="11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3783158" y="2727312"/>
            <a:ext cx="1645920" cy="365760"/>
          </a:xfrm>
          <a:prstGeom prst="roundRect">
            <a:avLst>
              <a:gd name="adj" fmla="val 20000"/>
            </a:avLst>
          </a:prstGeom>
          <a:solidFill>
            <a:srgbClr val="1A2436"/>
          </a:solidFill>
          <a:ln/>
        </p:spPr>
      </p:sp>
      <p:sp>
        <p:nvSpPr>
          <p:cNvPr id="23" name="Text 20"/>
          <p:cNvSpPr/>
          <p:nvPr/>
        </p:nvSpPr>
        <p:spPr>
          <a:xfrm>
            <a:off x="3783158" y="2745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students.json</a:t>
            </a:r>
            <a:endParaRPr lang="en-US" sz="11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5483942" y="2728201"/>
            <a:ext cx="1645920" cy="365760"/>
          </a:xfrm>
          <a:prstGeom prst="roundRect">
            <a:avLst>
              <a:gd name="adj" fmla="val 20000"/>
            </a:avLst>
          </a:prstGeom>
          <a:solidFill>
            <a:srgbClr val="1A2436"/>
          </a:solidFill>
          <a:ln/>
        </p:spPr>
      </p:sp>
      <p:sp>
        <p:nvSpPr>
          <p:cNvPr id="25" name="Text 22"/>
          <p:cNvSpPr/>
          <p:nvPr/>
        </p:nvSpPr>
        <p:spPr>
          <a:xfrm>
            <a:off x="5483942" y="2746489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parents.json</a:t>
            </a:r>
            <a:endParaRPr lang="en-US" sz="11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5483942" y="2261992"/>
            <a:ext cx="1645920" cy="365760"/>
          </a:xfrm>
          <a:prstGeom prst="roundRect">
            <a:avLst>
              <a:gd name="adj" fmla="val 20000"/>
            </a:avLst>
          </a:prstGeom>
          <a:solidFill>
            <a:srgbClr val="1A2436"/>
          </a:solidFill>
          <a:ln/>
        </p:spPr>
      </p:sp>
      <p:sp>
        <p:nvSpPr>
          <p:cNvPr id="27" name="Text 24"/>
          <p:cNvSpPr/>
          <p:nvPr/>
        </p:nvSpPr>
        <p:spPr>
          <a:xfrm>
            <a:off x="5483942" y="2280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consultants.json</a:t>
            </a:r>
            <a:endParaRPr lang="en-US" sz="11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2087517" y="2726296"/>
            <a:ext cx="1645920" cy="365760"/>
          </a:xfrm>
          <a:prstGeom prst="roundRect">
            <a:avLst>
              <a:gd name="adj" fmla="val 20000"/>
            </a:avLst>
          </a:prstGeom>
          <a:solidFill>
            <a:srgbClr val="1A2436"/>
          </a:solidFill>
          <a:ln/>
        </p:spPr>
      </p:sp>
      <p:sp>
        <p:nvSpPr>
          <p:cNvPr id="29" name="Text 26"/>
          <p:cNvSpPr/>
          <p:nvPr/>
        </p:nvSpPr>
        <p:spPr>
          <a:xfrm>
            <a:off x="2087517" y="274458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grades.json</a:t>
            </a:r>
            <a:endParaRPr lang="en-US" sz="11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2094089" y="3165208"/>
            <a:ext cx="1645920" cy="365760"/>
          </a:xfrm>
          <a:prstGeom prst="roundRect">
            <a:avLst>
              <a:gd name="adj" fmla="val 20000"/>
            </a:avLst>
          </a:prstGeom>
          <a:solidFill>
            <a:srgbClr val="1A2436"/>
          </a:solidFill>
          <a:ln/>
        </p:spPr>
      </p:sp>
      <p:sp>
        <p:nvSpPr>
          <p:cNvPr id="31" name="Text 28"/>
          <p:cNvSpPr/>
          <p:nvPr/>
        </p:nvSpPr>
        <p:spPr>
          <a:xfrm>
            <a:off x="2094089" y="318349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books.json</a:t>
            </a:r>
            <a:endParaRPr lang="en-US" sz="11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3788301" y="3167167"/>
            <a:ext cx="1645920" cy="365760"/>
          </a:xfrm>
          <a:prstGeom prst="roundRect">
            <a:avLst>
              <a:gd name="adj" fmla="val 20000"/>
            </a:avLst>
          </a:prstGeom>
          <a:solidFill>
            <a:srgbClr val="1A2436"/>
          </a:solidFill>
          <a:ln/>
        </p:spPr>
      </p:sp>
      <p:sp>
        <p:nvSpPr>
          <p:cNvPr id="33" name="Text 30"/>
          <p:cNvSpPr/>
          <p:nvPr/>
        </p:nvSpPr>
        <p:spPr>
          <a:xfrm>
            <a:off x="3788301" y="3185455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notes.json</a:t>
            </a:r>
            <a:endParaRPr lang="en-US" sz="11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5483942" y="3167167"/>
            <a:ext cx="1645920" cy="365760"/>
          </a:xfrm>
          <a:prstGeom prst="roundRect">
            <a:avLst>
              <a:gd name="adj" fmla="val 20000"/>
            </a:avLst>
          </a:prstGeom>
          <a:solidFill>
            <a:srgbClr val="1A2436"/>
          </a:solidFill>
          <a:ln/>
        </p:spPr>
      </p:sp>
      <p:sp>
        <p:nvSpPr>
          <p:cNvPr id="35" name="Text 32"/>
          <p:cNvSpPr/>
          <p:nvPr/>
        </p:nvSpPr>
        <p:spPr>
          <a:xfrm>
            <a:off x="5483942" y="3185455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ai-analysis.json</a:t>
            </a:r>
            <a:endParaRPr lang="en-US" sz="11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FA657B32-0EB6-9954-7EC0-6B47B65E8716}"/>
              </a:ext>
            </a:extLst>
          </p:cNvPr>
          <p:cNvSpPr/>
          <p:nvPr/>
        </p:nvSpPr>
        <p:spPr>
          <a:xfrm>
            <a:off x="8651367" y="778056"/>
            <a:ext cx="45719" cy="776424"/>
          </a:xfrm>
          <a:prstGeom prst="roundRect">
            <a:avLst/>
          </a:prstGeom>
          <a:solidFill>
            <a:srgbClr val="3B6FE8"/>
          </a:solidFill>
          <a:ln>
            <a:solidFill>
              <a:srgbClr val="3B6F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accent1"/>
                </a:solidFill>
              </a:ln>
              <a:solidFill>
                <a:schemeClr val="accent1"/>
              </a:solidFill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BE744793-453D-3C2D-222F-0E049B9D79AB}"/>
              </a:ext>
            </a:extLst>
          </p:cNvPr>
          <p:cNvSpPr/>
          <p:nvPr/>
        </p:nvSpPr>
        <p:spPr>
          <a:xfrm>
            <a:off x="3437734" y="777240"/>
            <a:ext cx="47497" cy="767080"/>
          </a:xfrm>
          <a:prstGeom prst="roundRect">
            <a:avLst/>
          </a:prstGeom>
          <a:solidFill>
            <a:srgbClr val="FC155D"/>
          </a:solidFill>
          <a:ln>
            <a:solidFill>
              <a:srgbClr val="FC15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accent1"/>
                </a:solidFill>
              </a:ln>
              <a:solidFill>
                <a:schemeClr val="accent1"/>
              </a:solidFill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5CE41AAA-2474-C2E6-3B30-FC85141EBF7F}"/>
              </a:ext>
            </a:extLst>
          </p:cNvPr>
          <p:cNvSpPr/>
          <p:nvPr/>
        </p:nvSpPr>
        <p:spPr>
          <a:xfrm rot="16200000">
            <a:off x="4481802" y="321130"/>
            <a:ext cx="45719" cy="1009650"/>
          </a:xfrm>
          <a:prstGeom prst="roundRect">
            <a:avLst/>
          </a:prstGeom>
          <a:solidFill>
            <a:srgbClr val="7B5CFF"/>
          </a:solidFill>
          <a:ln>
            <a:solidFill>
              <a:srgbClr val="7B5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accent1"/>
                </a:solidFill>
              </a:ln>
              <a:solidFill>
                <a:schemeClr val="accen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-647700" y="1463040"/>
            <a:ext cx="4572000" cy="4572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>
            <a:alphaModFix amt="2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F8FAFC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چشم‌انداز</a:t>
            </a:r>
            <a:endParaRPr lang="en-US" sz="2800" dirty="0">
              <a:latin typeface="Vazirmatn" pitchFamily="2" charset="-78"/>
              <a:cs typeface="Vazirmatn" pitchFamily="2" charset="-78"/>
            </a:endParaRPr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737360"/>
            <a:ext cx="2194560" cy="54864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097280" y="2103120"/>
            <a:ext cx="6858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CBD5E1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SIP فقط یک سیستم مدیریت مدرسه نیست.</a:t>
            </a:r>
            <a:endParaRPr lang="en-US" sz="1600" dirty="0">
              <a:latin typeface="Vazirmatn" pitchFamily="2" charset="-78"/>
              <a:cs typeface="Vazirmatn" pitchFamily="2" charset="-78"/>
            </a:endParaRPr>
          </a:p>
          <a:p>
            <a:pPr marL="0" indent="0" algn="r">
              <a:buNone/>
            </a:pPr>
            <a:r>
              <a:rPr lang="en-US" sz="1600" dirty="0">
                <a:solidFill>
                  <a:srgbClr val="CBD5E1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یک سامانه تحلیل، پیش‌بینی و تصمیم‌یار آموزشی است که با تمرکز بر حل مسائل واقعی نظام آموزشی طراحی شده تا کیفیت آموزش را بالا ببرد و به همه نقش‌ها کمک کند تصمیم‌های دقیق‌تری بگیرند.</a:t>
            </a:r>
            <a:endParaRPr lang="en-US" sz="16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8" name="Text 3"/>
          <p:cNvSpPr/>
          <p:nvPr/>
        </p:nvSpPr>
        <p:spPr>
          <a:xfrm>
            <a:off x="1097280" y="40233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4D7A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الگوریتم‌محور  ·  داده‌محور  ·  کاربرمحور</a:t>
            </a:r>
            <a:endParaRPr lang="en-US" sz="1400" dirty="0">
              <a:latin typeface="Vazirmatn" pitchFamily="2" charset="-78"/>
              <a:cs typeface="Vazirmatn" pitchFamily="2" charset="-78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 flipV="1">
            <a:off x="-832874" y="-3073154"/>
            <a:ext cx="10809748" cy="1080974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0" y="171450"/>
            <a:ext cx="9144000" cy="5143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3977640" y="914400"/>
            <a:ext cx="1188720" cy="1188720"/>
          </a:xfrm>
          <a:prstGeom prst="ellipse">
            <a:avLst/>
          </a:prstGeom>
          <a:solidFill>
            <a:srgbClr val="1A2436"/>
          </a:solidFill>
          <a:ln/>
        </p:spPr>
      </p:sp>
      <p:sp>
        <p:nvSpPr>
          <p:cNvPr id="7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8FAFC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School Intelligence Platform</a:t>
            </a:r>
            <a:endParaRPr lang="en-US" sz="26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8" name="Text 3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BD5E1"/>
                </a:solidFill>
                <a:latin typeface="Vazirmatn" pitchFamily="2" charset="-78"/>
                <a:ea typeface="Arial" pitchFamily="34" charset="-122"/>
                <a:cs typeface="Vazirmatn" pitchFamily="2" charset="-78"/>
              </a:rPr>
              <a:t>سامانه هوشمند مدیریت مدارس</a:t>
            </a:r>
            <a:endParaRPr lang="en-US" sz="16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10" name="Text 4"/>
          <p:cNvSpPr/>
          <p:nvPr/>
        </p:nvSpPr>
        <p:spPr>
          <a:xfrm>
            <a:off x="457200" y="3611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>
              <a:latin typeface="Vazirmatn" pitchFamily="2" charset="-78"/>
              <a:cs typeface="Vazirmatn" pitchFamily="2" charset="-78"/>
            </a:endParaRPr>
          </a:p>
        </p:txBody>
      </p:sp>
      <p:sp>
        <p:nvSpPr>
          <p:cNvPr id="11" name="Text 5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>
              <a:latin typeface="Vazirmatn" pitchFamily="2" charset="-78"/>
              <a:cs typeface="Vazirmatn" pitchFamily="2" charset="-78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9F4A368-706E-A2F4-89DA-174F2C7AE4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71300" y="1104900"/>
            <a:ext cx="796925" cy="7969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483</Words>
  <Application>Microsoft Office PowerPoint</Application>
  <PresentationFormat>On-screen Show (16:9)</PresentationFormat>
  <Paragraphs>158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Vazirmatn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سامانه هوشمند مدیریت مدارس (SIP)</dc:title>
  <dc:subject>PptxGenJS Presentation</dc:subject>
  <dc:creator>School Intelligence Platform</dc:creator>
  <cp:lastModifiedBy>Shayan</cp:lastModifiedBy>
  <cp:revision>6</cp:revision>
  <dcterms:created xsi:type="dcterms:W3CDTF">2026-08-19T22:25:11Z</dcterms:created>
  <dcterms:modified xsi:type="dcterms:W3CDTF">2026-08-21T08:35:24Z</dcterms:modified>
</cp:coreProperties>
</file>